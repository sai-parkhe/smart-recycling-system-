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8"/>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b="1"/>
          </a:p>
        </p:txBody>
      </p:sp>
      <p:sp>
        <p:nvSpPr>
          <p:cNvPr id="62" name="Google Shape;62;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1</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71" name="Google Shape;7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79" name="Google Shape;7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86" name="Google Shape;8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b7b36481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b7b36481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98" name="Google Shape;9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104" name="Google Shape;10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114" name="Google Shape;11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120" name="Google Shape;12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127" name="Google Shape;12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137" name="Google Shape;13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143" name="Google Shape;14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1"/>
          </a:p>
        </p:txBody>
      </p:sp>
      <p:sp>
        <p:nvSpPr>
          <p:cNvPr id="152" name="Google Shape;15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b="1">
                <a:solidFill>
                  <a:srgbClr val="223366"/>
                </a:solidFill>
              </a:rPr>
              <a:t>Thank You !!</a:t>
            </a:r>
            <a:endParaRPr sz="1100" b="1">
              <a:solidFill>
                <a:srgbClr val="223366"/>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6"/>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9pPr>
          </a:lstStyle>
          <a:p>
            <a:endParaRPr/>
          </a:p>
        </p:txBody>
      </p:sp>
      <p:sp>
        <p:nvSpPr>
          <p:cNvPr id="17" name="Google Shape;17;p6"/>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9pPr>
          </a:lstStyle>
          <a:p>
            <a:endParaRPr/>
          </a:p>
        </p:txBody>
      </p:sp>
      <p:sp>
        <p:nvSpPr>
          <p:cNvPr id="18" name="Google Shape;18;p6"/>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9"/>
        <p:cNvGrpSpPr/>
        <p:nvPr/>
      </p:nvGrpSpPr>
      <p:grpSpPr>
        <a:xfrm>
          <a:off x="0" y="0"/>
          <a:ext cx="0" cy="0"/>
          <a:chOff x="0" y="0"/>
          <a:chExt cx="0" cy="0"/>
        </a:xfrm>
      </p:grpSpPr>
      <p:sp>
        <p:nvSpPr>
          <p:cNvPr id="20" name="Google Shape;20;p7"/>
          <p:cNvSpPr/>
          <p:nvPr/>
        </p:nvSpPr>
        <p:spPr>
          <a:xfrm>
            <a:off x="0" y="0"/>
            <a:ext cx="12192000" cy="6858000"/>
          </a:xfrm>
          <a:prstGeom prst="rect">
            <a:avLst/>
          </a:prstGeom>
          <a:solidFill>
            <a:srgbClr val="F2E4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7"/>
          <p:cNvSpPr/>
          <p:nvPr/>
        </p:nvSpPr>
        <p:spPr>
          <a:xfrm>
            <a:off x="0" y="0"/>
            <a:ext cx="12192000" cy="6858000"/>
          </a:xfrm>
          <a:prstGeom prst="rect">
            <a:avLst/>
          </a:prstGeom>
          <a:solidFill>
            <a:srgbClr val="FEF5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7"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23"/>
        <p:cNvGrpSpPr/>
        <p:nvPr/>
      </p:nvGrpSpPr>
      <p:grpSpPr>
        <a:xfrm>
          <a:off x="0" y="0"/>
          <a:ext cx="0" cy="0"/>
          <a:chOff x="0" y="0"/>
          <a:chExt cx="0" cy="0"/>
        </a:xfrm>
      </p:grpSpPr>
      <p:sp>
        <p:nvSpPr>
          <p:cNvPr id="24" name="Google Shape;24;p8"/>
          <p:cNvSpPr/>
          <p:nvPr/>
        </p:nvSpPr>
        <p:spPr>
          <a:xfrm>
            <a:off x="0" y="0"/>
            <a:ext cx="12192000" cy="6858000"/>
          </a:xfrm>
          <a:prstGeom prst="rect">
            <a:avLst/>
          </a:prstGeom>
          <a:solidFill>
            <a:srgbClr val="F2E4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8"/>
          <p:cNvSpPr/>
          <p:nvPr/>
        </p:nvSpPr>
        <p:spPr>
          <a:xfrm>
            <a:off x="0" y="0"/>
            <a:ext cx="12192000" cy="6858000"/>
          </a:xfrm>
          <a:prstGeom prst="rect">
            <a:avLst/>
          </a:prstGeom>
          <a:solidFill>
            <a:srgbClr val="FEF5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 name="Google Shape;26;p8"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27"/>
        <p:cNvGrpSpPr/>
        <p:nvPr/>
      </p:nvGrpSpPr>
      <p:grpSpPr>
        <a:xfrm>
          <a:off x="0" y="0"/>
          <a:ext cx="0" cy="0"/>
          <a:chOff x="0" y="0"/>
          <a:chExt cx="0" cy="0"/>
        </a:xfrm>
      </p:grpSpPr>
      <p:sp>
        <p:nvSpPr>
          <p:cNvPr id="28" name="Google Shape;28;p9"/>
          <p:cNvSpPr/>
          <p:nvPr/>
        </p:nvSpPr>
        <p:spPr>
          <a:xfrm>
            <a:off x="0" y="0"/>
            <a:ext cx="12192000" cy="6858000"/>
          </a:xfrm>
          <a:prstGeom prst="rect">
            <a:avLst/>
          </a:prstGeom>
          <a:solidFill>
            <a:srgbClr val="F2E4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9"/>
          <p:cNvSpPr/>
          <p:nvPr/>
        </p:nvSpPr>
        <p:spPr>
          <a:xfrm>
            <a:off x="0" y="0"/>
            <a:ext cx="12192000" cy="6858000"/>
          </a:xfrm>
          <a:prstGeom prst="rect">
            <a:avLst/>
          </a:prstGeom>
          <a:solidFill>
            <a:srgbClr val="FEF5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 name="Google Shape;30;p9"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31"/>
        <p:cNvGrpSpPr/>
        <p:nvPr/>
      </p:nvGrpSpPr>
      <p:grpSpPr>
        <a:xfrm>
          <a:off x="0" y="0"/>
          <a:ext cx="0" cy="0"/>
          <a:chOff x="0" y="0"/>
          <a:chExt cx="0" cy="0"/>
        </a:xfrm>
      </p:grpSpPr>
      <p:sp>
        <p:nvSpPr>
          <p:cNvPr id="32" name="Google Shape;32;p10"/>
          <p:cNvSpPr/>
          <p:nvPr/>
        </p:nvSpPr>
        <p:spPr>
          <a:xfrm>
            <a:off x="0" y="0"/>
            <a:ext cx="12192000" cy="6858000"/>
          </a:xfrm>
          <a:prstGeom prst="rect">
            <a:avLst/>
          </a:prstGeom>
          <a:solidFill>
            <a:srgbClr val="F2E4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0"/>
          <p:cNvSpPr/>
          <p:nvPr/>
        </p:nvSpPr>
        <p:spPr>
          <a:xfrm>
            <a:off x="0" y="0"/>
            <a:ext cx="12192000" cy="6858000"/>
          </a:xfrm>
          <a:prstGeom prst="rect">
            <a:avLst/>
          </a:prstGeom>
          <a:solidFill>
            <a:srgbClr val="FEF5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 name="Google Shape;34;p10"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35"/>
        <p:cNvGrpSpPr/>
        <p:nvPr/>
      </p:nvGrpSpPr>
      <p:grpSpPr>
        <a:xfrm>
          <a:off x="0" y="0"/>
          <a:ext cx="0" cy="0"/>
          <a:chOff x="0" y="0"/>
          <a:chExt cx="0" cy="0"/>
        </a:xfrm>
      </p:grpSpPr>
      <p:sp>
        <p:nvSpPr>
          <p:cNvPr id="36" name="Google Shape;36;p11"/>
          <p:cNvSpPr/>
          <p:nvPr/>
        </p:nvSpPr>
        <p:spPr>
          <a:xfrm>
            <a:off x="0" y="0"/>
            <a:ext cx="12192000" cy="6858000"/>
          </a:xfrm>
          <a:prstGeom prst="rect">
            <a:avLst/>
          </a:prstGeom>
          <a:solidFill>
            <a:srgbClr val="F2E4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11"/>
          <p:cNvSpPr/>
          <p:nvPr/>
        </p:nvSpPr>
        <p:spPr>
          <a:xfrm>
            <a:off x="0" y="0"/>
            <a:ext cx="12192000" cy="6858000"/>
          </a:xfrm>
          <a:prstGeom prst="rect">
            <a:avLst/>
          </a:prstGeom>
          <a:solidFill>
            <a:srgbClr val="FEF5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 name="Google Shape;38;p11"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39"/>
        <p:cNvGrpSpPr/>
        <p:nvPr/>
      </p:nvGrpSpPr>
      <p:grpSpPr>
        <a:xfrm>
          <a:off x="0" y="0"/>
          <a:ext cx="0" cy="0"/>
          <a:chOff x="0" y="0"/>
          <a:chExt cx="0" cy="0"/>
        </a:xfrm>
      </p:grpSpPr>
      <p:sp>
        <p:nvSpPr>
          <p:cNvPr id="40" name="Google Shape;40;p12"/>
          <p:cNvSpPr/>
          <p:nvPr/>
        </p:nvSpPr>
        <p:spPr>
          <a:xfrm>
            <a:off x="0" y="0"/>
            <a:ext cx="12192000" cy="6858000"/>
          </a:xfrm>
          <a:prstGeom prst="rect">
            <a:avLst/>
          </a:prstGeom>
          <a:solidFill>
            <a:srgbClr val="F9F4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12"/>
          <p:cNvSpPr/>
          <p:nvPr/>
        </p:nvSpPr>
        <p:spPr>
          <a:xfrm>
            <a:off x="0" y="0"/>
            <a:ext cx="12192000" cy="6858000"/>
          </a:xfrm>
          <a:prstGeom prst="rect">
            <a:avLst/>
          </a:prstGeom>
          <a:solidFill>
            <a:srgbClr val="FFF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 name="Google Shape;42;p12"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43"/>
        <p:cNvGrpSpPr/>
        <p:nvPr/>
      </p:nvGrpSpPr>
      <p:grpSpPr>
        <a:xfrm>
          <a:off x="0" y="0"/>
          <a:ext cx="0" cy="0"/>
          <a:chOff x="0" y="0"/>
          <a:chExt cx="0" cy="0"/>
        </a:xfrm>
      </p:grpSpPr>
      <p:sp>
        <p:nvSpPr>
          <p:cNvPr id="44" name="Google Shape;44;p13"/>
          <p:cNvSpPr/>
          <p:nvPr/>
        </p:nvSpPr>
        <p:spPr>
          <a:xfrm>
            <a:off x="0" y="0"/>
            <a:ext cx="12192000" cy="6858000"/>
          </a:xfrm>
          <a:prstGeom prst="rect">
            <a:avLst/>
          </a:prstGeom>
          <a:solidFill>
            <a:srgbClr val="F9F4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13"/>
          <p:cNvSpPr/>
          <p:nvPr/>
        </p:nvSpPr>
        <p:spPr>
          <a:xfrm>
            <a:off x="0" y="0"/>
            <a:ext cx="12192000" cy="6858000"/>
          </a:xfrm>
          <a:prstGeom prst="rect">
            <a:avLst/>
          </a:prstGeom>
          <a:solidFill>
            <a:srgbClr val="FFF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 name="Google Shape;46;p13"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47"/>
        <p:cNvGrpSpPr/>
        <p:nvPr/>
      </p:nvGrpSpPr>
      <p:grpSpPr>
        <a:xfrm>
          <a:off x="0" y="0"/>
          <a:ext cx="0" cy="0"/>
          <a:chOff x="0" y="0"/>
          <a:chExt cx="0" cy="0"/>
        </a:xfrm>
      </p:grpSpPr>
      <p:sp>
        <p:nvSpPr>
          <p:cNvPr id="48" name="Google Shape;48;p14"/>
          <p:cNvSpPr/>
          <p:nvPr/>
        </p:nvSpPr>
        <p:spPr>
          <a:xfrm>
            <a:off x="0" y="0"/>
            <a:ext cx="12192000" cy="6858000"/>
          </a:xfrm>
          <a:prstGeom prst="rect">
            <a:avLst/>
          </a:prstGeom>
          <a:solidFill>
            <a:srgbClr val="F9F4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4"/>
          <p:cNvSpPr/>
          <p:nvPr/>
        </p:nvSpPr>
        <p:spPr>
          <a:xfrm>
            <a:off x="0" y="0"/>
            <a:ext cx="12192000" cy="6858000"/>
          </a:xfrm>
          <a:prstGeom prst="rect">
            <a:avLst/>
          </a:prstGeom>
          <a:solidFill>
            <a:srgbClr val="FFF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 name="Google Shape;50;p14"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51"/>
        <p:cNvGrpSpPr/>
        <p:nvPr/>
      </p:nvGrpSpPr>
      <p:grpSpPr>
        <a:xfrm>
          <a:off x="0" y="0"/>
          <a:ext cx="0" cy="0"/>
          <a:chOff x="0" y="0"/>
          <a:chExt cx="0" cy="0"/>
        </a:xfrm>
      </p:grpSpPr>
      <p:sp>
        <p:nvSpPr>
          <p:cNvPr id="52" name="Google Shape;52;p15"/>
          <p:cNvSpPr/>
          <p:nvPr/>
        </p:nvSpPr>
        <p:spPr>
          <a:xfrm>
            <a:off x="0" y="0"/>
            <a:ext cx="12192000" cy="6858000"/>
          </a:xfrm>
          <a:prstGeom prst="rect">
            <a:avLst/>
          </a:prstGeom>
          <a:solidFill>
            <a:srgbClr val="F9F4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5"/>
          <p:cNvSpPr/>
          <p:nvPr/>
        </p:nvSpPr>
        <p:spPr>
          <a:xfrm>
            <a:off x="0" y="0"/>
            <a:ext cx="12192000" cy="6858000"/>
          </a:xfrm>
          <a:prstGeom prst="rect">
            <a:avLst/>
          </a:prstGeom>
          <a:solidFill>
            <a:srgbClr val="FFF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4" name="Google Shape;54;p15"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55"/>
        <p:cNvGrpSpPr/>
        <p:nvPr/>
      </p:nvGrpSpPr>
      <p:grpSpPr>
        <a:xfrm>
          <a:off x="0" y="0"/>
          <a:ext cx="0" cy="0"/>
          <a:chOff x="0" y="0"/>
          <a:chExt cx="0" cy="0"/>
        </a:xfrm>
      </p:grpSpPr>
      <p:sp>
        <p:nvSpPr>
          <p:cNvPr id="56" name="Google Shape;56;p16"/>
          <p:cNvSpPr/>
          <p:nvPr/>
        </p:nvSpPr>
        <p:spPr>
          <a:xfrm>
            <a:off x="0" y="0"/>
            <a:ext cx="12192000" cy="6858000"/>
          </a:xfrm>
          <a:prstGeom prst="rect">
            <a:avLst/>
          </a:prstGeom>
          <a:solidFill>
            <a:srgbClr val="F9F4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6"/>
          <p:cNvSpPr/>
          <p:nvPr/>
        </p:nvSpPr>
        <p:spPr>
          <a:xfrm>
            <a:off x="0" y="0"/>
            <a:ext cx="12192000" cy="6858000"/>
          </a:xfrm>
          <a:prstGeom prst="rect">
            <a:avLst/>
          </a:prstGeom>
          <a:solidFill>
            <a:srgbClr val="FFF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 name="Google Shape;58;p16" descr="preencoded.png">
            <a:hlinkClick r:id="rId2"/>
          </p:cNvPr>
          <p:cNvPicPr preferRelativeResize="0"/>
          <p:nvPr/>
        </p:nvPicPr>
        <p:blipFill rotWithShape="1">
          <a:blip r:embed="rId3">
            <a:alphaModFix/>
          </a:blip>
          <a:srcRect/>
          <a:stretch/>
        </p:blipFill>
        <p:spPr>
          <a:xfrm>
            <a:off x="10699346" y="6457950"/>
            <a:ext cx="1435504" cy="342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6" name="Google Shape;6;p1" descr="A close up of a sign&#10;&#10;Description automatically generated"/>
          <p:cNvPicPr preferRelativeResize="0"/>
          <p:nvPr/>
        </p:nvPicPr>
        <p:blipFill rotWithShape="1">
          <a:blip r:embed="rId17">
            <a:alphaModFix/>
          </a:blip>
          <a:srcRect/>
          <a:stretch/>
        </p:blipFill>
        <p:spPr>
          <a:xfrm>
            <a:off x="10072688" y="78002"/>
            <a:ext cx="1800225" cy="575514"/>
          </a:xfrm>
          <a:prstGeom prst="rect">
            <a:avLst/>
          </a:prstGeom>
          <a:noFill/>
          <a:ln>
            <a:noFill/>
          </a:ln>
        </p:spPr>
      </p:pic>
      <p:sp>
        <p:nvSpPr>
          <p:cNvPr id="7" name="Google Shape;7;p1"/>
          <p:cNvSpPr/>
          <p:nvPr/>
        </p:nvSpPr>
        <p:spPr>
          <a:xfrm>
            <a:off x="1" y="0"/>
            <a:ext cx="9829800" cy="717630"/>
          </a:xfrm>
          <a:prstGeom prst="rect">
            <a:avLst/>
          </a:prstGeom>
          <a:solidFill>
            <a:srgbClr val="213264"/>
          </a:solidFill>
          <a:ln w="25400" cap="flat" cmpd="sng">
            <a:solidFill>
              <a:srgbClr val="2132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67" b="0" i="0" u="none" strike="noStrike" cap="none">
              <a:solidFill>
                <a:schemeClr val="lt1"/>
              </a:solidFill>
              <a:latin typeface="Arial"/>
              <a:ea typeface="Arial"/>
              <a:cs typeface="Arial"/>
              <a:sym typeface="Arial"/>
            </a:endParaRPr>
          </a:p>
        </p:txBody>
      </p:sp>
      <p:sp>
        <p:nvSpPr>
          <p:cNvPr id="8" name="Google Shape;8;p1"/>
          <p:cNvSpPr/>
          <p:nvPr/>
        </p:nvSpPr>
        <p:spPr>
          <a:xfrm>
            <a:off x="9888967" y="-419"/>
            <a:ext cx="112283" cy="732357"/>
          </a:xfrm>
          <a:prstGeom prst="rect">
            <a:avLst/>
          </a:prstGeom>
          <a:solidFill>
            <a:srgbClr val="7FBA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67" b="0" i="0" u="none" strike="noStrike" cap="none">
              <a:solidFill>
                <a:schemeClr val="lt1"/>
              </a:solidFill>
              <a:latin typeface="Arial"/>
              <a:ea typeface="Arial"/>
              <a:cs typeface="Arial"/>
              <a:sym typeface="Arial"/>
            </a:endParaRPr>
          </a:p>
        </p:txBody>
      </p:sp>
      <p:pic>
        <p:nvPicPr>
          <p:cNvPr id="9" name="Google Shape;9;p1" descr="A blue and white background&#10;&#10;Description automatically generated with medium confidence"/>
          <p:cNvPicPr preferRelativeResize="0"/>
          <p:nvPr/>
        </p:nvPicPr>
        <p:blipFill rotWithShape="1">
          <a:blip r:embed="rId18">
            <a:alphaModFix amt="16000"/>
          </a:blip>
          <a:srcRect t="24724" r="1618" b="63695"/>
          <a:stretch/>
        </p:blipFill>
        <p:spPr>
          <a:xfrm>
            <a:off x="0" y="-1"/>
            <a:ext cx="9839325" cy="723901"/>
          </a:xfrm>
          <a:prstGeom prst="rect">
            <a:avLst/>
          </a:prstGeom>
          <a:noFill/>
          <a:ln>
            <a:noFill/>
          </a:ln>
        </p:spPr>
      </p:pic>
      <p:sp>
        <p:nvSpPr>
          <p:cNvPr id="10" name="Google Shape;10;p1"/>
          <p:cNvSpPr/>
          <p:nvPr/>
        </p:nvSpPr>
        <p:spPr>
          <a:xfrm>
            <a:off x="11925300" y="-419"/>
            <a:ext cx="266700" cy="732357"/>
          </a:xfrm>
          <a:prstGeom prst="rect">
            <a:avLst/>
          </a:prstGeom>
          <a:solidFill>
            <a:srgbClr val="FED5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67"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datasets/sumn2u/garbage-classification-v2"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docs.google.com/spreadsheets/d/1Q746AnX1pFF9mdLH3WfGxZgfTCUXz_zd/edit?usp=sharing&amp;ouid=112044830605616554329&amp;rtpof=true&amp;sd=tru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7" descr="A person sitting at a desk with a computer&#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5" name="Google Shape;65;p17"/>
          <p:cNvSpPr/>
          <p:nvPr/>
        </p:nvSpPr>
        <p:spPr>
          <a:xfrm>
            <a:off x="8687544" y="584200"/>
            <a:ext cx="2110444" cy="977900"/>
          </a:xfrm>
          <a:prstGeom prst="roundRect">
            <a:avLst>
              <a:gd name="adj" fmla="val 16667"/>
            </a:avLst>
          </a:prstGeom>
          <a:solidFill>
            <a:srgbClr val="EBEEF9"/>
          </a:solidFill>
          <a:ln w="25400"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67" b="0" i="0" u="none" strike="noStrike" cap="none">
              <a:solidFill>
                <a:schemeClr val="lt1"/>
              </a:solidFill>
              <a:latin typeface="Arial"/>
              <a:ea typeface="Arial"/>
              <a:cs typeface="Arial"/>
              <a:sym typeface="Arial"/>
            </a:endParaRPr>
          </a:p>
        </p:txBody>
      </p:sp>
      <p:sp>
        <p:nvSpPr>
          <p:cNvPr id="66" name="Google Shape;66;p17"/>
          <p:cNvSpPr txBox="1"/>
          <p:nvPr/>
        </p:nvSpPr>
        <p:spPr>
          <a:xfrm>
            <a:off x="4760250" y="1845625"/>
            <a:ext cx="68286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000" b="1">
                <a:solidFill>
                  <a:schemeClr val="lt1"/>
                </a:solidFill>
              </a:rPr>
              <a:t>Smart Recycling System </a:t>
            </a:r>
            <a:endParaRPr sz="4000" b="1">
              <a:solidFill>
                <a:schemeClr val="lt1"/>
              </a:solidFill>
            </a:endParaRPr>
          </a:p>
        </p:txBody>
      </p:sp>
      <p:pic>
        <p:nvPicPr>
          <p:cNvPr id="67" name="Google Shape;67;p17" descr="A close up of a logo&#10;&#10;Description automatically generated"/>
          <p:cNvPicPr preferRelativeResize="0"/>
          <p:nvPr/>
        </p:nvPicPr>
        <p:blipFill rotWithShape="1">
          <a:blip r:embed="rId4">
            <a:alphaModFix/>
          </a:blip>
          <a:srcRect/>
          <a:stretch/>
        </p:blipFill>
        <p:spPr>
          <a:xfrm>
            <a:off x="9061943" y="867733"/>
            <a:ext cx="1263157" cy="410834"/>
          </a:xfrm>
          <a:prstGeom prst="rect">
            <a:avLst/>
          </a:prstGeom>
          <a:noFill/>
          <a:ln>
            <a:noFill/>
          </a:ln>
        </p:spPr>
      </p:pic>
      <p:sp>
        <p:nvSpPr>
          <p:cNvPr id="68" name="Google Shape;68;p17"/>
          <p:cNvSpPr txBox="1"/>
          <p:nvPr/>
        </p:nvSpPr>
        <p:spPr>
          <a:xfrm>
            <a:off x="4760250" y="3429000"/>
            <a:ext cx="6347100" cy="238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67">
              <a:solidFill>
                <a:schemeClr val="lt1"/>
              </a:solidFill>
            </a:endParaRPr>
          </a:p>
          <a:p>
            <a:pPr marL="0" marR="0" lvl="0" indent="0" algn="l" rtl="0">
              <a:lnSpc>
                <a:spcPct val="100000"/>
              </a:lnSpc>
              <a:spcBef>
                <a:spcPts val="0"/>
              </a:spcBef>
              <a:spcAft>
                <a:spcPts val="0"/>
              </a:spcAft>
              <a:buNone/>
            </a:pPr>
            <a:r>
              <a:rPr lang="en-US" sz="1867" b="0" i="0" u="none" strike="noStrike" cap="none">
                <a:solidFill>
                  <a:schemeClr val="lt1"/>
                </a:solidFill>
                <a:latin typeface="Arial"/>
                <a:ea typeface="Arial"/>
                <a:cs typeface="Arial"/>
                <a:sym typeface="Arial"/>
              </a:rPr>
              <a:t>Sai Parkhe</a:t>
            </a:r>
            <a:endParaRPr/>
          </a:p>
          <a:p>
            <a:pPr marL="0" marR="0" lvl="0" indent="0" algn="l" rtl="0">
              <a:lnSpc>
                <a:spcPct val="100000"/>
              </a:lnSpc>
              <a:spcBef>
                <a:spcPts val="0"/>
              </a:spcBef>
              <a:spcAft>
                <a:spcPts val="0"/>
              </a:spcAft>
              <a:buNone/>
            </a:pPr>
            <a:r>
              <a:rPr lang="en-US" sz="1867" b="0" i="0" u="none" strike="noStrike" cap="none">
                <a:solidFill>
                  <a:schemeClr val="lt1"/>
                </a:solidFill>
                <a:latin typeface="Arial"/>
                <a:ea typeface="Arial"/>
                <a:cs typeface="Arial"/>
                <a:sym typeface="Arial"/>
              </a:rPr>
              <a:t>Gayatri Adatiya</a:t>
            </a:r>
            <a:endParaRPr sz="1867"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50" b="0" i="0" u="none" strike="noStrike" cap="none">
                <a:solidFill>
                  <a:schemeClr val="lt1"/>
                </a:solidFill>
                <a:latin typeface="Arial"/>
                <a:ea typeface="Arial"/>
                <a:cs typeface="Arial"/>
                <a:sym typeface="Arial"/>
              </a:rPr>
              <a:t>Abhishek Khemnar</a:t>
            </a:r>
            <a:endParaRPr sz="185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50" b="0" i="0" u="none" strike="noStrike" cap="none">
                <a:solidFill>
                  <a:schemeClr val="lt1"/>
                </a:solidFill>
                <a:latin typeface="Arial"/>
                <a:ea typeface="Arial"/>
                <a:cs typeface="Arial"/>
                <a:sym typeface="Arial"/>
              </a:rPr>
              <a:t>Shreyanshu Owhal</a:t>
            </a:r>
            <a:endParaRPr sz="185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67" b="0" i="0" u="none" strike="noStrike" cap="none">
                <a:solidFill>
                  <a:schemeClr val="lt1"/>
                </a:solidFill>
                <a:latin typeface="Arial"/>
                <a:ea typeface="Arial"/>
                <a:cs typeface="Arial"/>
                <a:sym typeface="Arial"/>
              </a:rPr>
              <a:t>                                                          Guide:Sarthak </a:t>
            </a:r>
            <a:r>
              <a:rPr lang="en-US" sz="1867">
                <a:solidFill>
                  <a:schemeClr val="lt1"/>
                </a:solidFill>
              </a:rPr>
              <a:t>Narnor</a:t>
            </a:r>
            <a:endParaRPr sz="1867">
              <a:solidFill>
                <a:schemeClr val="lt1"/>
              </a:solidFill>
            </a:endParaRPr>
          </a:p>
          <a:p>
            <a:pPr marL="0" marR="0" lvl="0" indent="0" algn="l" rtl="0">
              <a:lnSpc>
                <a:spcPct val="100000"/>
              </a:lnSpc>
              <a:spcBef>
                <a:spcPts val="0"/>
              </a:spcBef>
              <a:spcAft>
                <a:spcPts val="0"/>
              </a:spcAft>
              <a:buNone/>
            </a:pPr>
            <a:r>
              <a:rPr lang="en-US" sz="1867" b="0" i="0" u="none" strike="noStrike" cap="none">
                <a:solidFill>
                  <a:schemeClr val="lt1"/>
                </a:solidFill>
                <a:latin typeface="Arial"/>
                <a:ea typeface="Arial"/>
                <a:cs typeface="Arial"/>
                <a:sym typeface="Arial"/>
              </a:rPr>
              <a:t>College Name -  PES Modern College of Engineering Pune-05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cxnSp>
        <p:nvCxnSpPr>
          <p:cNvPr id="73" name="Google Shape;73;p18"/>
          <p:cNvCxnSpPr/>
          <p:nvPr/>
        </p:nvCxnSpPr>
        <p:spPr>
          <a:xfrm>
            <a:off x="0" y="6402110"/>
            <a:ext cx="12192000" cy="0"/>
          </a:xfrm>
          <a:prstGeom prst="straightConnector1">
            <a:avLst/>
          </a:prstGeom>
          <a:noFill/>
          <a:ln w="12700" cap="flat" cmpd="sng">
            <a:solidFill>
              <a:srgbClr val="D8D8D8"/>
            </a:solidFill>
            <a:prstDash val="solid"/>
            <a:round/>
            <a:headEnd type="none" w="sm" len="sm"/>
            <a:tailEnd type="none" w="sm" len="sm"/>
          </a:ln>
        </p:spPr>
      </p:cxnSp>
      <p:sp>
        <p:nvSpPr>
          <p:cNvPr id="74" name="Google Shape;74;p18"/>
          <p:cNvSpPr txBox="1"/>
          <p:nvPr/>
        </p:nvSpPr>
        <p:spPr>
          <a:xfrm>
            <a:off x="407838" y="873305"/>
            <a:ext cx="5025142" cy="687382"/>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3200" b="1" i="0" u="none" strike="noStrike" cap="none">
                <a:solidFill>
                  <a:srgbClr val="213163"/>
                </a:solidFill>
                <a:latin typeface="Arial"/>
                <a:ea typeface="Arial"/>
                <a:cs typeface="Arial"/>
                <a:sym typeface="Arial"/>
              </a:rPr>
              <a:t>Project Objectives</a:t>
            </a:r>
            <a:endParaRPr sz="3200" b="0" i="0" u="none" strike="noStrike" cap="none">
              <a:solidFill>
                <a:srgbClr val="000000"/>
              </a:solidFill>
              <a:latin typeface="Arial"/>
              <a:ea typeface="Arial"/>
              <a:cs typeface="Arial"/>
              <a:sym typeface="Arial"/>
            </a:endParaRPr>
          </a:p>
        </p:txBody>
      </p:sp>
      <p:pic>
        <p:nvPicPr>
          <p:cNvPr id="75" name="Google Shape;75;p18"/>
          <p:cNvPicPr preferRelativeResize="0"/>
          <p:nvPr/>
        </p:nvPicPr>
        <p:blipFill rotWithShape="1">
          <a:blip r:embed="rId3">
            <a:alphaModFix/>
          </a:blip>
          <a:srcRect/>
          <a:stretch/>
        </p:blipFill>
        <p:spPr>
          <a:xfrm>
            <a:off x="7081265" y="1124611"/>
            <a:ext cx="4602826" cy="4613712"/>
          </a:xfrm>
          <a:prstGeom prst="rect">
            <a:avLst/>
          </a:prstGeom>
          <a:noFill/>
          <a:ln>
            <a:noFill/>
          </a:ln>
        </p:spPr>
      </p:pic>
      <p:sp>
        <p:nvSpPr>
          <p:cNvPr id="76" name="Google Shape;76;p18"/>
          <p:cNvSpPr txBox="1"/>
          <p:nvPr/>
        </p:nvSpPr>
        <p:spPr>
          <a:xfrm>
            <a:off x="407850" y="1714500"/>
            <a:ext cx="5369100" cy="4190100"/>
          </a:xfrm>
          <a:prstGeom prst="rect">
            <a:avLst/>
          </a:prstGeom>
          <a:noFill/>
          <a:ln>
            <a:noFill/>
          </a:ln>
        </p:spPr>
        <p:txBody>
          <a:bodyPr spcFirstLastPara="1" wrap="square" lIns="91425" tIns="91425" rIns="91425" bIns="91425" anchor="t" anchorCtr="0">
            <a:noAutofit/>
          </a:bodyPr>
          <a:lstStyle/>
          <a:p>
            <a:pPr marL="182880" marR="0" lvl="0" indent="-220980" algn="l" rtl="0">
              <a:lnSpc>
                <a:spcPct val="150000"/>
              </a:lnSpc>
              <a:spcBef>
                <a:spcPts val="0"/>
              </a:spcBef>
              <a:spcAft>
                <a:spcPts val="0"/>
              </a:spcAft>
              <a:buClr>
                <a:srgbClr val="000000"/>
              </a:buClr>
              <a:buSzPts val="2200"/>
              <a:buFont typeface="Times New Roman"/>
              <a:buChar char="•"/>
            </a:pPr>
            <a:r>
              <a:rPr lang="en-US" sz="2200" i="0" u="none" strike="noStrike" cap="none">
                <a:solidFill>
                  <a:srgbClr val="000000"/>
                </a:solidFill>
                <a:latin typeface="Times New Roman"/>
                <a:ea typeface="Times New Roman"/>
                <a:cs typeface="Times New Roman"/>
                <a:sym typeface="Times New Roman"/>
              </a:rPr>
              <a:t>Problem Statement</a:t>
            </a:r>
            <a:endParaRPr sz="2200" i="0" u="none" strike="noStrike" cap="none">
              <a:solidFill>
                <a:srgbClr val="000000"/>
              </a:solidFill>
              <a:latin typeface="Times New Roman"/>
              <a:ea typeface="Times New Roman"/>
              <a:cs typeface="Times New Roman"/>
              <a:sym typeface="Times New Roman"/>
            </a:endParaRPr>
          </a:p>
          <a:p>
            <a:pPr marL="182880" marR="0" lvl="0" indent="-220980" algn="l" rtl="0">
              <a:lnSpc>
                <a:spcPct val="150000"/>
              </a:lnSpc>
              <a:spcBef>
                <a:spcPts val="0"/>
              </a:spcBef>
              <a:spcAft>
                <a:spcPts val="0"/>
              </a:spcAft>
              <a:buClr>
                <a:srgbClr val="000000"/>
              </a:buClr>
              <a:buSzPts val="2200"/>
              <a:buFont typeface="Times New Roman"/>
              <a:buChar char="•"/>
            </a:pPr>
            <a:r>
              <a:rPr lang="en-US" sz="2200" i="0" u="none" strike="noStrike" cap="none">
                <a:solidFill>
                  <a:srgbClr val="000000"/>
                </a:solidFill>
                <a:latin typeface="Times New Roman"/>
                <a:ea typeface="Times New Roman"/>
                <a:cs typeface="Times New Roman"/>
                <a:sym typeface="Times New Roman"/>
              </a:rPr>
              <a:t>Project Overview – Introduction</a:t>
            </a:r>
            <a:endParaRPr sz="2200">
              <a:latin typeface="Times New Roman"/>
              <a:ea typeface="Times New Roman"/>
              <a:cs typeface="Times New Roman"/>
              <a:sym typeface="Times New Roman"/>
            </a:endParaRPr>
          </a:p>
          <a:p>
            <a:pPr marL="182880" marR="0" lvl="0" indent="-220980" algn="l" rtl="0">
              <a:lnSpc>
                <a:spcPct val="150000"/>
              </a:lnSpc>
              <a:spcBef>
                <a:spcPts val="0"/>
              </a:spcBef>
              <a:spcAft>
                <a:spcPts val="0"/>
              </a:spcAft>
              <a:buClr>
                <a:srgbClr val="000000"/>
              </a:buClr>
              <a:buSzPts val="2200"/>
              <a:buFont typeface="Times New Roman"/>
              <a:buChar char="•"/>
            </a:pPr>
            <a:r>
              <a:rPr lang="en-US" sz="2200" i="0" u="none" strike="noStrike" cap="none">
                <a:solidFill>
                  <a:srgbClr val="000000"/>
                </a:solidFill>
                <a:latin typeface="Times New Roman"/>
                <a:ea typeface="Times New Roman"/>
                <a:cs typeface="Times New Roman"/>
                <a:sym typeface="Times New Roman"/>
              </a:rPr>
              <a:t>End Users</a:t>
            </a:r>
            <a:endParaRPr sz="2200">
              <a:latin typeface="Times New Roman"/>
              <a:ea typeface="Times New Roman"/>
              <a:cs typeface="Times New Roman"/>
              <a:sym typeface="Times New Roman"/>
            </a:endParaRPr>
          </a:p>
          <a:p>
            <a:pPr marL="182880" marR="0" lvl="0" indent="-220980" algn="l" rtl="0">
              <a:lnSpc>
                <a:spcPct val="150000"/>
              </a:lnSpc>
              <a:spcBef>
                <a:spcPts val="0"/>
              </a:spcBef>
              <a:spcAft>
                <a:spcPts val="0"/>
              </a:spcAft>
              <a:buClr>
                <a:srgbClr val="000000"/>
              </a:buClr>
              <a:buSzPts val="2200"/>
              <a:buFont typeface="Times New Roman"/>
              <a:buChar char="•"/>
            </a:pPr>
            <a:r>
              <a:rPr lang="en-US" sz="2200" i="0" u="none" strike="noStrike" cap="none">
                <a:solidFill>
                  <a:srgbClr val="000000"/>
                </a:solidFill>
                <a:latin typeface="Times New Roman"/>
                <a:ea typeface="Times New Roman"/>
                <a:cs typeface="Times New Roman"/>
                <a:sym typeface="Times New Roman"/>
              </a:rPr>
              <a:t>Wow Factor in Project</a:t>
            </a:r>
            <a:endParaRPr sz="2200">
              <a:latin typeface="Times New Roman"/>
              <a:ea typeface="Times New Roman"/>
              <a:cs typeface="Times New Roman"/>
              <a:sym typeface="Times New Roman"/>
            </a:endParaRPr>
          </a:p>
          <a:p>
            <a:pPr marL="182880" marR="0" lvl="0" indent="-220980" algn="l" rtl="0">
              <a:lnSpc>
                <a:spcPct val="150000"/>
              </a:lnSpc>
              <a:spcBef>
                <a:spcPts val="0"/>
              </a:spcBef>
              <a:spcAft>
                <a:spcPts val="0"/>
              </a:spcAft>
              <a:buClr>
                <a:srgbClr val="000000"/>
              </a:buClr>
              <a:buSzPts val="2200"/>
              <a:buFont typeface="Times New Roman"/>
              <a:buChar char="•"/>
            </a:pPr>
            <a:r>
              <a:rPr lang="en-US" sz="2200" i="0" u="none" strike="noStrike" cap="none">
                <a:solidFill>
                  <a:srgbClr val="000000"/>
                </a:solidFill>
                <a:latin typeface="Times New Roman"/>
                <a:ea typeface="Times New Roman"/>
                <a:cs typeface="Times New Roman"/>
                <a:sym typeface="Times New Roman"/>
              </a:rPr>
              <a:t>Modelling/Block Diagram/Flow of Project</a:t>
            </a:r>
            <a:endParaRPr sz="2200">
              <a:latin typeface="Times New Roman"/>
              <a:ea typeface="Times New Roman"/>
              <a:cs typeface="Times New Roman"/>
              <a:sym typeface="Times New Roman"/>
            </a:endParaRPr>
          </a:p>
          <a:p>
            <a:pPr marL="182880" marR="0" lvl="0" indent="-220980" algn="l" rtl="0">
              <a:lnSpc>
                <a:spcPct val="150000"/>
              </a:lnSpc>
              <a:spcBef>
                <a:spcPts val="0"/>
              </a:spcBef>
              <a:spcAft>
                <a:spcPts val="0"/>
              </a:spcAft>
              <a:buClr>
                <a:srgbClr val="000000"/>
              </a:buClr>
              <a:buSzPts val="2200"/>
              <a:buFont typeface="Times New Roman"/>
              <a:buChar char="•"/>
            </a:pPr>
            <a:r>
              <a:rPr lang="en-US" sz="2200" i="0" u="none" strike="noStrike" cap="none">
                <a:solidFill>
                  <a:srgbClr val="000000"/>
                </a:solidFill>
                <a:latin typeface="Times New Roman"/>
                <a:ea typeface="Times New Roman"/>
                <a:cs typeface="Times New Roman"/>
                <a:sym typeface="Times New Roman"/>
              </a:rPr>
              <a:t>Result/outcomes</a:t>
            </a:r>
            <a:endParaRPr sz="2200">
              <a:latin typeface="Times New Roman"/>
              <a:ea typeface="Times New Roman"/>
              <a:cs typeface="Times New Roman"/>
              <a:sym typeface="Times New Roman"/>
            </a:endParaRPr>
          </a:p>
          <a:p>
            <a:pPr marL="182880" marR="0" lvl="0" indent="-220980" algn="l" rtl="0">
              <a:lnSpc>
                <a:spcPct val="150000"/>
              </a:lnSpc>
              <a:spcBef>
                <a:spcPts val="0"/>
              </a:spcBef>
              <a:spcAft>
                <a:spcPts val="0"/>
              </a:spcAft>
              <a:buClr>
                <a:srgbClr val="000000"/>
              </a:buClr>
              <a:buSzPts val="2200"/>
              <a:buFont typeface="Times New Roman"/>
              <a:buChar char="•"/>
            </a:pPr>
            <a:r>
              <a:rPr lang="en-US" sz="2200" i="0" u="none" strike="noStrike" cap="none">
                <a:solidFill>
                  <a:srgbClr val="000000"/>
                </a:solidFill>
                <a:latin typeface="Times New Roman"/>
                <a:ea typeface="Times New Roman"/>
                <a:cs typeface="Times New Roman"/>
                <a:sym typeface="Times New Roman"/>
              </a:rPr>
              <a:t>Conclusion</a:t>
            </a:r>
            <a:endParaRPr sz="2200">
              <a:latin typeface="Times New Roman"/>
              <a:ea typeface="Times New Roman"/>
              <a:cs typeface="Times New Roman"/>
              <a:sym typeface="Times New Roman"/>
            </a:endParaRPr>
          </a:p>
          <a:p>
            <a:pPr marL="182880" marR="0" lvl="0" indent="-220980" algn="l" rtl="0">
              <a:lnSpc>
                <a:spcPct val="150000"/>
              </a:lnSpc>
              <a:spcBef>
                <a:spcPts val="0"/>
              </a:spcBef>
              <a:spcAft>
                <a:spcPts val="0"/>
              </a:spcAft>
              <a:buClr>
                <a:srgbClr val="000000"/>
              </a:buClr>
              <a:buSzPts val="2200"/>
              <a:buFont typeface="Times New Roman"/>
              <a:buChar char="•"/>
            </a:pPr>
            <a:r>
              <a:rPr lang="en-US" sz="2200" i="0" u="none" strike="noStrike" cap="none">
                <a:solidFill>
                  <a:srgbClr val="000000"/>
                </a:solidFill>
                <a:latin typeface="Times New Roman"/>
                <a:ea typeface="Times New Roman"/>
                <a:cs typeface="Times New Roman"/>
                <a:sym typeface="Times New Roman"/>
              </a:rPr>
              <a:t>References</a:t>
            </a:r>
            <a:endParaRPr sz="2200">
              <a:latin typeface="Times New Roman"/>
              <a:ea typeface="Times New Roman"/>
              <a:cs typeface="Times New Roman"/>
              <a:sym typeface="Times New Roman"/>
            </a:endParaRPr>
          </a:p>
          <a:p>
            <a:pPr marL="182880" marR="0" lvl="0" indent="-220980" algn="l" rtl="0">
              <a:lnSpc>
                <a:spcPct val="150000"/>
              </a:lnSpc>
              <a:spcBef>
                <a:spcPts val="0"/>
              </a:spcBef>
              <a:spcAft>
                <a:spcPts val="0"/>
              </a:spcAft>
              <a:buClr>
                <a:srgbClr val="000000"/>
              </a:buClr>
              <a:buSzPts val="2200"/>
              <a:buFont typeface="Times New Roman"/>
              <a:buChar char="•"/>
            </a:pPr>
            <a:r>
              <a:rPr lang="en-US" sz="2200" i="0" u="none" strike="noStrike" cap="none">
                <a:solidFill>
                  <a:srgbClr val="000000"/>
                </a:solidFill>
                <a:latin typeface="Times New Roman"/>
                <a:ea typeface="Times New Roman"/>
                <a:cs typeface="Times New Roman"/>
                <a:sym typeface="Times New Roman"/>
              </a:rPr>
              <a:t>Future Perspective</a:t>
            </a:r>
            <a:endParaRPr sz="2200">
              <a:latin typeface="Times New Roman"/>
              <a:ea typeface="Times New Roman"/>
              <a:cs typeface="Times New Roman"/>
              <a:sym typeface="Times New Roman"/>
            </a:endParaRPr>
          </a:p>
          <a:p>
            <a:pPr marL="182880" marR="0" lvl="0" indent="-113029"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9"/>
          <p:cNvSpPr txBox="1"/>
          <p:nvPr/>
        </p:nvSpPr>
        <p:spPr>
          <a:xfrm>
            <a:off x="202078" y="744025"/>
            <a:ext cx="97899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213163"/>
                </a:solidFill>
                <a:latin typeface="Arial"/>
                <a:ea typeface="Arial"/>
                <a:cs typeface="Arial"/>
                <a:sym typeface="Arial"/>
              </a:rPr>
              <a:t>Problem Statement and Objective</a:t>
            </a:r>
            <a:endParaRPr sz="3200" b="0" i="0" u="none" strike="noStrike" cap="none">
              <a:solidFill>
                <a:srgbClr val="000000"/>
              </a:solidFill>
              <a:latin typeface="Arial"/>
              <a:ea typeface="Arial"/>
              <a:cs typeface="Arial"/>
              <a:sym typeface="Arial"/>
            </a:endParaRPr>
          </a:p>
        </p:txBody>
      </p:sp>
      <p:sp>
        <p:nvSpPr>
          <p:cNvPr id="82" name="Google Shape;82;p19"/>
          <p:cNvSpPr txBox="1"/>
          <p:nvPr/>
        </p:nvSpPr>
        <p:spPr>
          <a:xfrm>
            <a:off x="137825" y="1257300"/>
            <a:ext cx="11492100" cy="5479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Font typeface="Arial"/>
              <a:buNone/>
            </a:pPr>
            <a:endParaRPr sz="2400" b="1"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Font typeface="Arial"/>
              <a:buNone/>
            </a:pPr>
            <a:r>
              <a:rPr lang="en-US" sz="2400" b="1">
                <a:latin typeface="Times New Roman"/>
                <a:ea typeface="Times New Roman"/>
                <a:cs typeface="Times New Roman"/>
                <a:sym typeface="Times New Roman"/>
              </a:rPr>
              <a:t>Based on </a:t>
            </a:r>
            <a:r>
              <a:rPr lang="en-US" sz="2400" b="1" dirty="0">
                <a:latin typeface="Times New Roman"/>
                <a:ea typeface="Times New Roman"/>
                <a:cs typeface="Times New Roman"/>
                <a:sym typeface="Times New Roman"/>
              </a:rPr>
              <a:t>Smart Recycling System</a:t>
            </a:r>
            <a:endParaRPr sz="2400" b="1"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2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200" i="0" u="none" strike="noStrike" cap="none" dirty="0">
                <a:solidFill>
                  <a:srgbClr val="000000"/>
                </a:solidFill>
                <a:latin typeface="Times New Roman"/>
                <a:ea typeface="Times New Roman"/>
                <a:cs typeface="Times New Roman"/>
                <a:sym typeface="Times New Roman"/>
              </a:rPr>
              <a:t>I</a:t>
            </a:r>
            <a:r>
              <a:rPr lang="en-US" sz="2200" dirty="0">
                <a:latin typeface="Times New Roman"/>
                <a:ea typeface="Times New Roman"/>
                <a:cs typeface="Times New Roman"/>
                <a:sym typeface="Times New Roman"/>
              </a:rPr>
              <a:t>mproper waste segregation leads to recyclable materials being lost in landfills, causing environmental </a:t>
            </a:r>
            <a:r>
              <a:rPr lang="en-US" sz="2200" dirty="0" err="1">
                <a:latin typeface="Times New Roman"/>
                <a:ea typeface="Times New Roman"/>
                <a:cs typeface="Times New Roman"/>
                <a:sym typeface="Times New Roman"/>
              </a:rPr>
              <a:t>harm.There</a:t>
            </a:r>
            <a:r>
              <a:rPr lang="en-US" sz="2200" dirty="0">
                <a:latin typeface="Times New Roman"/>
                <a:ea typeface="Times New Roman"/>
                <a:cs typeface="Times New Roman"/>
                <a:sym typeface="Times New Roman"/>
              </a:rPr>
              <a:t> is a need for an automated system to accurately classify waste and direct it to appropriate recycling channels.</a:t>
            </a:r>
            <a:endParaRPr sz="2200"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200"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200" b="1" dirty="0">
                <a:latin typeface="Times New Roman"/>
                <a:ea typeface="Times New Roman"/>
                <a:cs typeface="Times New Roman"/>
                <a:sym typeface="Times New Roman"/>
              </a:rPr>
              <a:t>Objectives</a:t>
            </a:r>
            <a:endParaRPr sz="2200" b="1" dirty="0">
              <a:latin typeface="Times New Roman"/>
              <a:ea typeface="Times New Roman"/>
              <a:cs typeface="Times New Roman"/>
              <a:sym typeface="Times New Roman"/>
            </a:endParaRPr>
          </a:p>
          <a:p>
            <a:pPr marL="0" lvl="0" indent="0" algn="l" rtl="0">
              <a:spcBef>
                <a:spcPts val="0"/>
              </a:spcBef>
              <a:spcAft>
                <a:spcPts val="0"/>
              </a:spcAft>
              <a:buNone/>
            </a:pPr>
            <a:r>
              <a:rPr lang="en-US" sz="2200" dirty="0">
                <a:latin typeface="Times New Roman"/>
                <a:ea typeface="Times New Roman"/>
                <a:cs typeface="Times New Roman"/>
                <a:sym typeface="Times New Roman"/>
              </a:rPr>
              <a:t>1.To classify waste automatically using images.</a:t>
            </a:r>
            <a:endParaRPr sz="2200"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200" dirty="0">
                <a:latin typeface="Times New Roman"/>
                <a:ea typeface="Times New Roman"/>
                <a:cs typeface="Times New Roman"/>
                <a:sym typeface="Times New Roman"/>
              </a:rPr>
              <a:t>2.To identify the type of waste accurately.</a:t>
            </a:r>
            <a:endParaRPr sz="2200"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200" dirty="0">
                <a:latin typeface="Times New Roman"/>
                <a:ea typeface="Times New Roman"/>
                <a:cs typeface="Times New Roman"/>
                <a:sym typeface="Times New Roman"/>
              </a:rPr>
              <a:t>3.To reduce manual waste segregation effort.</a:t>
            </a:r>
            <a:endParaRPr sz="2200"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200" dirty="0">
                <a:latin typeface="Times New Roman"/>
                <a:ea typeface="Times New Roman"/>
                <a:cs typeface="Times New Roman"/>
                <a:sym typeface="Times New Roman"/>
              </a:rPr>
              <a:t>4.To suggest suitable recycling companies.</a:t>
            </a:r>
            <a:endParaRPr sz="2200"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200" dirty="0">
                <a:latin typeface="Times New Roman"/>
                <a:ea typeface="Times New Roman"/>
                <a:cs typeface="Times New Roman"/>
                <a:sym typeface="Times New Roman"/>
              </a:rPr>
              <a:t>5.To support efficient and sustainable waste management.</a:t>
            </a:r>
            <a:endParaRPr sz="2200"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dirty="0"/>
          </a:p>
          <a:p>
            <a:pPr marL="0" marR="0" lvl="0" indent="0" algn="l" rtl="0">
              <a:lnSpc>
                <a:spcPct val="100000"/>
              </a:lnSpc>
              <a:spcBef>
                <a:spcPts val="0"/>
              </a:spcBef>
              <a:spcAft>
                <a:spcPts val="0"/>
              </a:spcAft>
              <a:buNone/>
            </a:pPr>
            <a:endParaRPr sz="2000" dirty="0"/>
          </a:p>
          <a:p>
            <a:pPr marL="0" marR="0" lvl="0" indent="0" algn="l" rtl="0">
              <a:lnSpc>
                <a:spcPct val="100000"/>
              </a:lnSpc>
              <a:spcBef>
                <a:spcPts val="0"/>
              </a:spcBef>
              <a:spcAft>
                <a:spcPts val="0"/>
              </a:spcAft>
              <a:buNone/>
            </a:pPr>
            <a:endParaRPr sz="2000" dirty="0"/>
          </a:p>
        </p:txBody>
      </p:sp>
      <p:pic>
        <p:nvPicPr>
          <p:cNvPr id="83" name="Google Shape;83;p19"/>
          <p:cNvPicPr preferRelativeResize="0"/>
          <p:nvPr/>
        </p:nvPicPr>
        <p:blipFill>
          <a:blip r:embed="rId3">
            <a:alphaModFix/>
          </a:blip>
          <a:stretch>
            <a:fillRect/>
          </a:stretch>
        </p:blipFill>
        <p:spPr>
          <a:xfrm>
            <a:off x="5633315" y="2109025"/>
            <a:ext cx="6849234" cy="51102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0"/>
          <p:cNvSpPr txBox="1"/>
          <p:nvPr/>
        </p:nvSpPr>
        <p:spPr>
          <a:xfrm>
            <a:off x="304800" y="672527"/>
            <a:ext cx="70725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213163"/>
                </a:solidFill>
                <a:latin typeface="Arial"/>
                <a:ea typeface="Arial"/>
                <a:cs typeface="Arial"/>
                <a:sym typeface="Arial"/>
              </a:rPr>
              <a:t>Project Overview - Introduction</a:t>
            </a:r>
            <a:endParaRPr sz="3200" b="0" i="0" u="none" strike="noStrike" cap="none">
              <a:solidFill>
                <a:srgbClr val="000000"/>
              </a:solidFill>
              <a:latin typeface="Arial"/>
              <a:ea typeface="Arial"/>
              <a:cs typeface="Arial"/>
              <a:sym typeface="Arial"/>
            </a:endParaRPr>
          </a:p>
        </p:txBody>
      </p:sp>
      <p:sp>
        <p:nvSpPr>
          <p:cNvPr id="89" name="Google Shape;89;p20"/>
          <p:cNvSpPr txBox="1"/>
          <p:nvPr/>
        </p:nvSpPr>
        <p:spPr>
          <a:xfrm>
            <a:off x="304800" y="1257520"/>
            <a:ext cx="11115000" cy="3140100"/>
          </a:xfrm>
          <a:prstGeom prst="rect">
            <a:avLst/>
          </a:prstGeom>
          <a:noFill/>
          <a:ln>
            <a:noFill/>
          </a:ln>
        </p:spPr>
        <p:txBody>
          <a:bodyPr spcFirstLastPara="1" wrap="square" lIns="91425" tIns="45700" rIns="91425" bIns="45700" anchor="t" anchorCtr="0">
            <a:spAutoFit/>
          </a:bodyPr>
          <a:lstStyle/>
          <a:p>
            <a:pPr marL="0" lvl="0" indent="0" algn="just" rtl="0">
              <a:spcBef>
                <a:spcPts val="0"/>
              </a:spcBef>
              <a:spcAft>
                <a:spcPts val="0"/>
              </a:spcAft>
              <a:buSzPts val="1100"/>
              <a:buNone/>
            </a:pPr>
            <a:r>
              <a:rPr lang="en-US" sz="2200">
                <a:latin typeface="Times New Roman"/>
                <a:ea typeface="Times New Roman"/>
                <a:cs typeface="Times New Roman"/>
                <a:sym typeface="Times New Roman"/>
              </a:rPr>
              <a:t>This project aims to improve waste management using machine learning.The system takes an image of waste as input from the user.The image is processed and analyzed using a trained machine learning model.The model classifies the waste into different categories such as cloth, paper, plastic, and e-waste.After classification, the system identifies the type of waste.Based on this waste type, suitable recycling companies are suggested.These companies can reuse or recycle the waste material.This helps recyclable waste reach the correct destination instead of landfills.The system reduces manual waste segregation work.It also helps recycling companies get properly sorted raw materials.The project provides a practical and scalable recycling solution.</a:t>
            </a:r>
            <a:endParaRPr sz="220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200" i="0" u="none" strike="noStrike" cap="none">
              <a:solidFill>
                <a:srgbClr val="000000"/>
              </a:solidFill>
              <a:latin typeface="Times New Roman"/>
              <a:ea typeface="Times New Roman"/>
              <a:cs typeface="Times New Roman"/>
              <a:sym typeface="Times New Roman"/>
            </a:endParaRPr>
          </a:p>
        </p:txBody>
      </p:sp>
      <p:pic>
        <p:nvPicPr>
          <p:cNvPr id="90" name="Google Shape;90;p20"/>
          <p:cNvPicPr preferRelativeResize="0"/>
          <p:nvPr/>
        </p:nvPicPr>
        <p:blipFill>
          <a:blip r:embed="rId3">
            <a:alphaModFix/>
          </a:blip>
          <a:stretch>
            <a:fillRect/>
          </a:stretch>
        </p:blipFill>
        <p:spPr>
          <a:xfrm>
            <a:off x="0" y="3250725"/>
            <a:ext cx="12192000" cy="39669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1"/>
          <p:cNvSpPr txBox="1"/>
          <p:nvPr/>
        </p:nvSpPr>
        <p:spPr>
          <a:xfrm>
            <a:off x="0" y="0"/>
            <a:ext cx="11240700" cy="64362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800"/>
              </a:spcBef>
              <a:spcAft>
                <a:spcPts val="0"/>
              </a:spcAft>
              <a:buClr>
                <a:schemeClr val="dk1"/>
              </a:buClr>
              <a:buSzPts val="1100"/>
              <a:buFont typeface="Arial"/>
              <a:buNone/>
            </a:pPr>
            <a:r>
              <a:rPr lang="en-US" sz="2400" b="1">
                <a:solidFill>
                  <a:schemeClr val="lt1"/>
                </a:solidFill>
                <a:latin typeface="Times New Roman"/>
                <a:ea typeface="Times New Roman"/>
                <a:cs typeface="Times New Roman"/>
                <a:sym typeface="Times New Roman"/>
              </a:rPr>
              <a:t>Waste Classification Dataset</a:t>
            </a:r>
            <a:endParaRPr sz="2400" b="1">
              <a:solidFill>
                <a:schemeClr val="lt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200">
                <a:solidFill>
                  <a:schemeClr val="dk1"/>
                </a:solidFill>
                <a:latin typeface="Times New Roman"/>
                <a:ea typeface="Times New Roman"/>
                <a:cs typeface="Times New Roman"/>
                <a:sym typeface="Times New Roman"/>
              </a:rPr>
              <a:t>Labeled waste images used to train MobileNetV2.</a:t>
            </a:r>
            <a:endParaRPr sz="2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2200" b="1">
                <a:solidFill>
                  <a:schemeClr val="dk1"/>
                </a:solidFill>
                <a:latin typeface="Times New Roman"/>
                <a:ea typeface="Times New Roman"/>
                <a:cs typeface="Times New Roman"/>
                <a:sym typeface="Times New Roman"/>
              </a:rPr>
              <a:t>Classes:</a:t>
            </a:r>
            <a:br>
              <a:rPr lang="en-US" sz="2200" b="1">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 Battery,Cardboard,Clothes,glass,metal,paper,plastic,shoes,trash,</a:t>
            </a:r>
            <a:br>
              <a:rPr lang="en-US" sz="2200">
                <a:solidFill>
                  <a:schemeClr val="dk1"/>
                </a:solidFill>
                <a:latin typeface="Times New Roman"/>
                <a:ea typeface="Times New Roman"/>
                <a:cs typeface="Times New Roman"/>
                <a:sym typeface="Times New Roman"/>
              </a:rPr>
            </a:br>
            <a:r>
              <a:rPr lang="en-US" sz="2200">
                <a:solidFill>
                  <a:schemeClr val="dk1"/>
                </a:solidFill>
                <a:latin typeface="Times New Roman"/>
                <a:ea typeface="Times New Roman"/>
                <a:cs typeface="Times New Roman"/>
                <a:sym typeface="Times New Roman"/>
              </a:rPr>
              <a:t>Images resized to </a:t>
            </a:r>
            <a:r>
              <a:rPr lang="en-US" sz="2200" b="1">
                <a:solidFill>
                  <a:schemeClr val="dk1"/>
                </a:solidFill>
                <a:latin typeface="Times New Roman"/>
                <a:ea typeface="Times New Roman"/>
                <a:cs typeface="Times New Roman"/>
                <a:sym typeface="Times New Roman"/>
              </a:rPr>
              <a:t>224×224</a:t>
            </a:r>
            <a:r>
              <a:rPr lang="en-US" sz="2200">
                <a:solidFill>
                  <a:schemeClr val="dk1"/>
                </a:solidFill>
                <a:latin typeface="Times New Roman"/>
                <a:ea typeface="Times New Roman"/>
                <a:cs typeface="Times New Roman"/>
                <a:sym typeface="Times New Roman"/>
              </a:rPr>
              <a:t> and normalized.</a:t>
            </a:r>
            <a:endParaRPr sz="2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200">
                <a:solidFill>
                  <a:schemeClr val="dk1"/>
                </a:solidFill>
                <a:latin typeface="Times New Roman"/>
                <a:ea typeface="Times New Roman"/>
                <a:cs typeface="Times New Roman"/>
                <a:sym typeface="Times New Roman"/>
              </a:rPr>
              <a:t>link: </a:t>
            </a:r>
            <a:r>
              <a:rPr lang="en-US" sz="2200" u="sng">
                <a:solidFill>
                  <a:schemeClr val="hlink"/>
                </a:solidFill>
                <a:latin typeface="Times New Roman"/>
                <a:ea typeface="Times New Roman"/>
                <a:cs typeface="Times New Roman"/>
                <a:sym typeface="Times New Roman"/>
                <a:hlinkClick r:id="rId3"/>
              </a:rPr>
              <a:t>https://www.kaggle.com/datasets/sumn2u/garbage-classification-v2</a:t>
            </a:r>
            <a:endParaRPr sz="2200">
              <a:solidFill>
                <a:schemeClr val="dk1"/>
              </a:solidFill>
              <a:latin typeface="Times New Roman"/>
              <a:ea typeface="Times New Roman"/>
              <a:cs typeface="Times New Roman"/>
              <a:sym typeface="Times New Roman"/>
            </a:endParaRPr>
          </a:p>
          <a:p>
            <a:pPr marL="0" lvl="0" indent="0" algn="l" rtl="0">
              <a:lnSpc>
                <a:spcPct val="115000"/>
              </a:lnSpc>
              <a:spcBef>
                <a:spcPts val="1800"/>
              </a:spcBef>
              <a:spcAft>
                <a:spcPts val="0"/>
              </a:spcAft>
              <a:buClr>
                <a:schemeClr val="dk1"/>
              </a:buClr>
              <a:buSzPts val="1100"/>
              <a:buFont typeface="Arial"/>
              <a:buNone/>
            </a:pPr>
            <a:r>
              <a:rPr lang="en-US" sz="2200" b="1">
                <a:solidFill>
                  <a:schemeClr val="dk1"/>
                </a:solidFill>
                <a:latin typeface="Times New Roman"/>
                <a:ea typeface="Times New Roman"/>
                <a:cs typeface="Times New Roman"/>
                <a:sym typeface="Times New Roman"/>
              </a:rPr>
              <a:t>Recycling Company Dataset (CSV)</a:t>
            </a:r>
            <a:endParaRPr sz="22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100" b="1">
                <a:solidFill>
                  <a:schemeClr val="dk1"/>
                </a:solidFill>
                <a:latin typeface="Times New Roman"/>
                <a:ea typeface="Times New Roman"/>
                <a:cs typeface="Times New Roman"/>
                <a:sym typeface="Times New Roman"/>
              </a:rPr>
              <a:t>Fields:</a:t>
            </a:r>
            <a:br>
              <a:rPr lang="en-US" sz="2100" b="1">
                <a:solidFill>
                  <a:schemeClr val="dk1"/>
                </a:solidFill>
                <a:latin typeface="Times New Roman"/>
                <a:ea typeface="Times New Roman"/>
                <a:cs typeface="Times New Roman"/>
                <a:sym typeface="Times New Roman"/>
              </a:rPr>
            </a:br>
            <a:r>
              <a:rPr lang="en-US" sz="2100">
                <a:solidFill>
                  <a:schemeClr val="dk1"/>
                </a:solidFill>
                <a:latin typeface="Times New Roman"/>
                <a:ea typeface="Times New Roman"/>
                <a:cs typeface="Times New Roman"/>
                <a:sym typeface="Times New Roman"/>
              </a:rPr>
              <a:t> Company Name | Waste_Needed | City | Website</a:t>
            </a: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2100">
                <a:solidFill>
                  <a:schemeClr val="dk1"/>
                </a:solidFill>
                <a:latin typeface="Times New Roman"/>
                <a:ea typeface="Times New Roman"/>
                <a:cs typeface="Times New Roman"/>
                <a:sym typeface="Times New Roman"/>
              </a:rPr>
              <a:t>Used to recommend suitable recyclers after waste classification.</a:t>
            </a: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100">
                <a:solidFill>
                  <a:schemeClr val="dk1"/>
                </a:solidFill>
                <a:latin typeface="Times New Roman"/>
                <a:ea typeface="Times New Roman"/>
                <a:cs typeface="Times New Roman"/>
                <a:sym typeface="Times New Roman"/>
              </a:rPr>
              <a:t>Self-Created Dataset</a:t>
            </a:r>
            <a:endParaRPr sz="21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1100"/>
              <a:buFont typeface="Arial"/>
              <a:buNone/>
            </a:pPr>
            <a:r>
              <a:rPr lang="en-US" sz="2100">
                <a:solidFill>
                  <a:schemeClr val="dk1"/>
                </a:solidFill>
                <a:latin typeface="Times New Roman"/>
                <a:ea typeface="Times New Roman"/>
                <a:cs typeface="Times New Roman"/>
                <a:sym typeface="Times New Roman"/>
              </a:rPr>
              <a:t>Link:</a:t>
            </a:r>
            <a:r>
              <a:rPr lang="en-US" sz="2100" u="sng">
                <a:solidFill>
                  <a:schemeClr val="hlink"/>
                </a:solidFill>
                <a:latin typeface="Times New Roman"/>
                <a:ea typeface="Times New Roman"/>
                <a:cs typeface="Times New Roman"/>
                <a:sym typeface="Times New Roman"/>
                <a:hlinkClick r:id="rId4"/>
              </a:rPr>
              <a:t>https://docs.google.com/spreadsheets/d/1Q746AnX1pFF9mdLH3WfGxZgfTCUXz_zd/edit?usp=sharing&amp;ouid=112044830605616554329&amp;rtpof=true&amp;sd=true</a:t>
            </a:r>
            <a:r>
              <a:rPr lang="en-US" sz="2100">
                <a:solidFill>
                  <a:schemeClr val="dk1"/>
                </a:solidFill>
                <a:latin typeface="Times New Roman"/>
                <a:ea typeface="Times New Roman"/>
                <a:cs typeface="Times New Roman"/>
                <a:sym typeface="Times New Roman"/>
              </a:rPr>
              <a:t> </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2"/>
          <p:cNvSpPr txBox="1"/>
          <p:nvPr/>
        </p:nvSpPr>
        <p:spPr>
          <a:xfrm>
            <a:off x="191996" y="849537"/>
            <a:ext cx="59040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213163"/>
                </a:solidFill>
                <a:latin typeface="Arial"/>
                <a:ea typeface="Arial"/>
                <a:cs typeface="Arial"/>
                <a:sym typeface="Arial"/>
              </a:rPr>
              <a:t>End Users</a:t>
            </a:r>
            <a:endParaRPr sz="3200" b="0" i="0" u="none" strike="noStrike" cap="none">
              <a:solidFill>
                <a:srgbClr val="000000"/>
              </a:solidFill>
              <a:latin typeface="Arial"/>
              <a:ea typeface="Arial"/>
              <a:cs typeface="Arial"/>
              <a:sym typeface="Arial"/>
            </a:endParaRPr>
          </a:p>
        </p:txBody>
      </p:sp>
      <p:sp>
        <p:nvSpPr>
          <p:cNvPr id="101" name="Google Shape;101;p22"/>
          <p:cNvSpPr/>
          <p:nvPr/>
        </p:nvSpPr>
        <p:spPr>
          <a:xfrm>
            <a:off x="447050" y="1536200"/>
            <a:ext cx="11247000" cy="52554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400"/>
              </a:spcBef>
              <a:spcAft>
                <a:spcPts val="0"/>
              </a:spcAft>
              <a:buClr>
                <a:schemeClr val="dk1"/>
              </a:buClr>
              <a:buSzPts val="1100"/>
              <a:buFont typeface="Arial"/>
              <a:buNone/>
            </a:pPr>
            <a:endParaRPr sz="1600" b="1">
              <a:solidFill>
                <a:schemeClr val="dk1"/>
              </a:solidFill>
              <a:latin typeface="Times New Roman"/>
              <a:ea typeface="Times New Roman"/>
              <a:cs typeface="Times New Roman"/>
              <a:sym typeface="Times New Roman"/>
            </a:endParaRPr>
          </a:p>
          <a:p>
            <a:pPr marL="457200" lvl="0" indent="-355600" algn="l" rtl="0">
              <a:lnSpc>
                <a:spcPct val="115000"/>
              </a:lnSpc>
              <a:spcBef>
                <a:spcPts val="1200"/>
              </a:spcBef>
              <a:spcAft>
                <a:spcPts val="0"/>
              </a:spcAft>
              <a:buClr>
                <a:schemeClr val="dk1"/>
              </a:buClr>
              <a:buSzPts val="2000"/>
              <a:buAutoNum type="arabicPeriod"/>
            </a:pPr>
            <a:r>
              <a:rPr lang="en-US" sz="2000" b="1">
                <a:solidFill>
                  <a:schemeClr val="dk1"/>
                </a:solidFill>
                <a:latin typeface="Times New Roman"/>
                <a:ea typeface="Times New Roman"/>
                <a:cs typeface="Times New Roman"/>
                <a:sym typeface="Times New Roman"/>
              </a:rPr>
              <a:t>Waste Management Workers</a:t>
            </a:r>
            <a:br>
              <a:rPr lang="en-US" sz="2000" b="1">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 A worker uploads an image of collected waste to identify its type.</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AutoNum type="arabicPeriod"/>
            </a:pPr>
            <a:r>
              <a:rPr lang="en-US" sz="2000" b="1">
                <a:solidFill>
                  <a:schemeClr val="dk1"/>
                </a:solidFill>
                <a:latin typeface="Times New Roman"/>
                <a:ea typeface="Times New Roman"/>
                <a:cs typeface="Times New Roman"/>
                <a:sym typeface="Times New Roman"/>
              </a:rPr>
              <a:t>Municipal Corporations</a:t>
            </a:r>
            <a:br>
              <a:rPr lang="en-US" sz="2000" b="1">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 City authorities use the system to improve waste segregation efficiency.</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AutoNum type="arabicPeriod"/>
            </a:pPr>
            <a:r>
              <a:rPr lang="en-US" sz="2000" b="1">
                <a:solidFill>
                  <a:schemeClr val="dk1"/>
                </a:solidFill>
                <a:latin typeface="Times New Roman"/>
                <a:ea typeface="Times New Roman"/>
                <a:cs typeface="Times New Roman"/>
                <a:sym typeface="Times New Roman"/>
              </a:rPr>
              <a:t>Recycling Companies</a:t>
            </a:r>
            <a:br>
              <a:rPr lang="en-US" sz="2000" b="1">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 A textile recycling company receives sorted cloth waste as raw material.</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AutoNum type="arabicPeriod"/>
            </a:pPr>
            <a:r>
              <a:rPr lang="en-US" sz="2000" b="1">
                <a:solidFill>
                  <a:schemeClr val="dk1"/>
                </a:solidFill>
                <a:latin typeface="Times New Roman"/>
                <a:ea typeface="Times New Roman"/>
                <a:cs typeface="Times New Roman"/>
                <a:sym typeface="Times New Roman"/>
              </a:rPr>
              <a:t>Smart City Projects</a:t>
            </a:r>
            <a:br>
              <a:rPr lang="en-US" sz="2000" b="1">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 Smart bins connected to the system for automated waste handling.</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AutoNum type="arabicPeriod"/>
            </a:pPr>
            <a:r>
              <a:rPr lang="en-US" sz="2000" b="1">
                <a:solidFill>
                  <a:schemeClr val="dk1"/>
                </a:solidFill>
                <a:latin typeface="Times New Roman"/>
                <a:ea typeface="Times New Roman"/>
                <a:cs typeface="Times New Roman"/>
                <a:sym typeface="Times New Roman"/>
              </a:rPr>
              <a:t>Industrial Waste Collectors</a:t>
            </a:r>
            <a:br>
              <a:rPr lang="en-US" sz="2000" b="1">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 Industries segregate metal or cardboard waste before recycling.</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AutoNum type="arabicPeriod"/>
            </a:pPr>
            <a:r>
              <a:rPr lang="en-US" sz="2000" b="1">
                <a:solidFill>
                  <a:schemeClr val="dk1"/>
                </a:solidFill>
                <a:latin typeface="Times New Roman"/>
                <a:ea typeface="Times New Roman"/>
                <a:cs typeface="Times New Roman"/>
                <a:sym typeface="Times New Roman"/>
              </a:rPr>
              <a:t>NGOs Working in Waste Management</a:t>
            </a:r>
            <a:br>
              <a:rPr lang="en-US" sz="2000" b="1">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 NGOs use the system to support recycling and sustainability programs.</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AutoNum type="arabicPeriod"/>
            </a:pPr>
            <a:r>
              <a:rPr lang="en-US" sz="2000" b="1">
                <a:solidFill>
                  <a:schemeClr val="dk1"/>
                </a:solidFill>
                <a:latin typeface="Times New Roman"/>
                <a:ea typeface="Times New Roman"/>
                <a:cs typeface="Times New Roman"/>
                <a:sym typeface="Times New Roman"/>
              </a:rPr>
              <a:t>Small Scrap Collectors</a:t>
            </a:r>
            <a:br>
              <a:rPr lang="en-US" sz="2000" b="1">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 Local scrap dealers identify and sell waste to the right recyclers.</a:t>
            </a:r>
            <a:endParaRPr sz="2000">
              <a:solidFill>
                <a:schemeClr val="dk1"/>
              </a:solidFill>
              <a:latin typeface="Times New Roman"/>
              <a:ea typeface="Times New Roman"/>
              <a:cs typeface="Times New Roman"/>
              <a:sym typeface="Times New Roman"/>
            </a:endParaRPr>
          </a:p>
          <a:p>
            <a:pPr marL="0" marR="0" lvl="0" indent="0" algn="l" rtl="0">
              <a:lnSpc>
                <a:spcPct val="200000"/>
              </a:lnSpc>
              <a:spcBef>
                <a:spcPts val="1200"/>
              </a:spcBef>
              <a:spcAft>
                <a:spcPts val="0"/>
              </a:spcAft>
              <a:buNone/>
            </a:pP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23"/>
          <p:cNvPicPr preferRelativeResize="0"/>
          <p:nvPr/>
        </p:nvPicPr>
        <p:blipFill>
          <a:blip r:embed="rId3">
            <a:alphaModFix/>
          </a:blip>
          <a:stretch>
            <a:fillRect/>
          </a:stretch>
        </p:blipFill>
        <p:spPr>
          <a:xfrm>
            <a:off x="2910225" y="-128475"/>
            <a:ext cx="9690552" cy="7348350"/>
          </a:xfrm>
          <a:prstGeom prst="rect">
            <a:avLst/>
          </a:prstGeom>
          <a:noFill/>
          <a:ln>
            <a:noFill/>
          </a:ln>
        </p:spPr>
      </p:pic>
      <p:sp>
        <p:nvSpPr>
          <p:cNvPr id="107" name="Google Shape;107;p23"/>
          <p:cNvSpPr txBox="1"/>
          <p:nvPr/>
        </p:nvSpPr>
        <p:spPr>
          <a:xfrm>
            <a:off x="160625" y="1257300"/>
            <a:ext cx="3000000" cy="1554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4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 system transforms useless waste into valuable recyclable material. </a:t>
            </a:r>
            <a:endParaRPr/>
          </a:p>
        </p:txBody>
      </p:sp>
      <p:sp>
        <p:nvSpPr>
          <p:cNvPr id="108" name="Google Shape;108;p23"/>
          <p:cNvSpPr txBox="1"/>
          <p:nvPr/>
        </p:nvSpPr>
        <p:spPr>
          <a:xfrm>
            <a:off x="160625" y="2768400"/>
            <a:ext cx="3000000" cy="1554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4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 A single image is enough to identify waste and decide its next step.</a:t>
            </a:r>
            <a:endParaRPr/>
          </a:p>
        </p:txBody>
      </p:sp>
      <p:sp>
        <p:nvSpPr>
          <p:cNvPr id="109" name="Google Shape;109;p23"/>
          <p:cNvSpPr txBox="1"/>
          <p:nvPr/>
        </p:nvSpPr>
        <p:spPr>
          <a:xfrm>
            <a:off x="84750" y="4146000"/>
            <a:ext cx="3440100" cy="1200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4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 project bridges waste collectors and recycling companies.</a:t>
            </a:r>
            <a:endParaRPr/>
          </a:p>
        </p:txBody>
      </p:sp>
      <p:sp>
        <p:nvSpPr>
          <p:cNvPr id="110" name="Google Shape;110;p23"/>
          <p:cNvSpPr txBox="1"/>
          <p:nvPr/>
        </p:nvSpPr>
        <p:spPr>
          <a:xfrm>
            <a:off x="160625" y="5346600"/>
            <a:ext cx="3000000" cy="1554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4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Machine learning is used not just for prediction, but for purpose.</a:t>
            </a:r>
            <a:endParaRPr/>
          </a:p>
        </p:txBody>
      </p:sp>
      <p:sp>
        <p:nvSpPr>
          <p:cNvPr id="111" name="Google Shape;111;p23"/>
          <p:cNvSpPr txBox="1"/>
          <p:nvPr/>
        </p:nvSpPr>
        <p:spPr>
          <a:xfrm>
            <a:off x="160625" y="672302"/>
            <a:ext cx="70725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a:solidFill>
                  <a:srgbClr val="213163"/>
                </a:solidFill>
              </a:rPr>
              <a:t>Wow Factors</a:t>
            </a:r>
            <a:endParaRPr sz="32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4"/>
          <p:cNvPicPr preferRelativeResize="0"/>
          <p:nvPr/>
        </p:nvPicPr>
        <p:blipFill>
          <a:blip r:embed="rId3">
            <a:alphaModFix/>
          </a:blip>
          <a:stretch>
            <a:fillRect/>
          </a:stretch>
        </p:blipFill>
        <p:spPr>
          <a:xfrm>
            <a:off x="0" y="695474"/>
            <a:ext cx="12192000" cy="6651002"/>
          </a:xfrm>
          <a:prstGeom prst="rect">
            <a:avLst/>
          </a:prstGeom>
          <a:noFill/>
          <a:ln>
            <a:noFill/>
          </a:ln>
        </p:spPr>
      </p:pic>
      <p:sp>
        <p:nvSpPr>
          <p:cNvPr id="117" name="Google Shape;117;p24"/>
          <p:cNvSpPr txBox="1"/>
          <p:nvPr/>
        </p:nvSpPr>
        <p:spPr>
          <a:xfrm>
            <a:off x="96350" y="835175"/>
            <a:ext cx="6074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b="1">
                <a:solidFill>
                  <a:srgbClr val="213163"/>
                </a:solidFill>
              </a:rPr>
              <a:t>Work Flow of the Project</a:t>
            </a:r>
            <a:endParaRPr sz="3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5"/>
          <p:cNvSpPr txBox="1"/>
          <p:nvPr/>
        </p:nvSpPr>
        <p:spPr>
          <a:xfrm>
            <a:off x="304800" y="1842300"/>
            <a:ext cx="109413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b="1">
              <a:solidFill>
                <a:schemeClr val="dk1"/>
              </a:solidFill>
            </a:endParaRPr>
          </a:p>
        </p:txBody>
      </p:sp>
      <p:sp>
        <p:nvSpPr>
          <p:cNvPr id="123" name="Google Shape;123;p25"/>
          <p:cNvSpPr txBox="1"/>
          <p:nvPr/>
        </p:nvSpPr>
        <p:spPr>
          <a:xfrm>
            <a:off x="0" y="1257300"/>
            <a:ext cx="11685300" cy="567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b="1">
                <a:solidFill>
                  <a:schemeClr val="dk1"/>
                </a:solidFill>
              </a:rPr>
              <a:t>Python 3.x</a:t>
            </a:r>
            <a:r>
              <a:rPr lang="en-US" sz="1700">
                <a:solidFill>
                  <a:schemeClr val="dk1"/>
                </a:solidFill>
              </a:rPr>
              <a:t> – Core programming language used for model development and execution.</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Jupyter Notebook</a:t>
            </a:r>
            <a:r>
              <a:rPr lang="en-US" sz="1700">
                <a:solidFill>
                  <a:schemeClr val="dk1"/>
                </a:solidFill>
              </a:rPr>
              <a:t> – Interactive environment for training, testing, and visualizing results.</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NumPy</a:t>
            </a:r>
            <a:r>
              <a:rPr lang="en-US" sz="1700">
                <a:solidFill>
                  <a:schemeClr val="dk1"/>
                </a:solidFill>
              </a:rPr>
              <a:t> – Handles numerical operations and array manipulations for image data.</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Pandas</a:t>
            </a:r>
            <a:r>
              <a:rPr lang="en-US" sz="1700">
                <a:solidFill>
                  <a:schemeClr val="dk1"/>
                </a:solidFill>
              </a:rPr>
              <a:t> – Manages and filters the company database stored in Excel format.</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TensorFlow 2.x</a:t>
            </a:r>
            <a:r>
              <a:rPr lang="en-US" sz="1700">
                <a:solidFill>
                  <a:schemeClr val="dk1"/>
                </a:solidFill>
              </a:rPr>
              <a:t> – Deep learning framework used to build and train the neural network.</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Keras API</a:t>
            </a:r>
            <a:r>
              <a:rPr lang="en-US" sz="1700">
                <a:solidFill>
                  <a:schemeClr val="dk1"/>
                </a:solidFill>
              </a:rPr>
              <a:t> – High-level API for designing, training, and saving the model.</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MobileNetV2</a:t>
            </a:r>
            <a:r>
              <a:rPr lang="en-US" sz="1700">
                <a:solidFill>
                  <a:schemeClr val="dk1"/>
                </a:solidFill>
              </a:rPr>
              <a:t> – Pre-trained CNN architecture used for transfer learning and classification.</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Pillow (PIL)</a:t>
            </a:r>
            <a:r>
              <a:rPr lang="en-US" sz="1700">
                <a:solidFill>
                  <a:schemeClr val="dk1"/>
                </a:solidFill>
              </a:rPr>
              <a:t> – Loads and processes images before feeding them to the model.</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Matplotlib</a:t>
            </a:r>
            <a:r>
              <a:rPr lang="en-US" sz="1700">
                <a:solidFill>
                  <a:schemeClr val="dk1"/>
                </a:solidFill>
              </a:rPr>
              <a:t> – Displays images and prediction results visually.</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Excel (.xlsx)</a:t>
            </a:r>
            <a:r>
              <a:rPr lang="en-US" sz="1700">
                <a:solidFill>
                  <a:schemeClr val="dk1"/>
                </a:solidFill>
              </a:rPr>
              <a:t> – Stores recycling company information as a structured dataset.</a:t>
            </a:r>
            <a:br>
              <a:rPr lang="en-US" sz="1700">
                <a:solidFill>
                  <a:schemeClr val="dk1"/>
                </a:solidFill>
              </a:rPr>
            </a:br>
            <a:endParaRPr sz="1700">
              <a:solidFill>
                <a:schemeClr val="dk1"/>
              </a:solidFill>
            </a:endParaRPr>
          </a:p>
          <a:p>
            <a:pPr marL="0" lvl="0" indent="0" algn="l" rtl="0">
              <a:spcBef>
                <a:spcPts val="0"/>
              </a:spcBef>
              <a:spcAft>
                <a:spcPts val="0"/>
              </a:spcAft>
              <a:buNone/>
            </a:pPr>
            <a:r>
              <a:rPr lang="en-US" sz="1700" b="1">
                <a:solidFill>
                  <a:schemeClr val="dk1"/>
                </a:solidFill>
              </a:rPr>
              <a:t>Keras SavedModel (.keras)</a:t>
            </a:r>
            <a:r>
              <a:rPr lang="en-US" sz="1700">
                <a:solidFill>
                  <a:schemeClr val="dk1"/>
                </a:solidFill>
              </a:rPr>
              <a:t> – Format used to save and reload the trained model efficiently.</a:t>
            </a:r>
            <a:endParaRPr sz="1700">
              <a:solidFill>
                <a:schemeClr val="dk1"/>
              </a:solidFill>
            </a:endParaRPr>
          </a:p>
        </p:txBody>
      </p:sp>
      <p:sp>
        <p:nvSpPr>
          <p:cNvPr id="124" name="Google Shape;124;p25"/>
          <p:cNvSpPr txBox="1"/>
          <p:nvPr/>
        </p:nvSpPr>
        <p:spPr>
          <a:xfrm>
            <a:off x="96350" y="691400"/>
            <a:ext cx="6074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b="1">
                <a:solidFill>
                  <a:srgbClr val="213163"/>
                </a:solidFill>
              </a:rPr>
              <a:t>Technology Stack</a:t>
            </a:r>
            <a:endParaRPr sz="3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txBox="1"/>
          <p:nvPr/>
        </p:nvSpPr>
        <p:spPr>
          <a:xfrm>
            <a:off x="191996" y="1129512"/>
            <a:ext cx="59040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213163"/>
                </a:solidFill>
                <a:latin typeface="Arial"/>
                <a:ea typeface="Arial"/>
                <a:cs typeface="Arial"/>
                <a:sym typeface="Arial"/>
              </a:rPr>
              <a:t>Result</a:t>
            </a:r>
            <a:r>
              <a:rPr lang="en-US" sz="3200" b="1">
                <a:solidFill>
                  <a:srgbClr val="213163"/>
                </a:solidFill>
              </a:rPr>
              <a:t>s</a:t>
            </a:r>
            <a:endParaRPr sz="3200" b="0" i="0" u="none" strike="noStrike" cap="none">
              <a:solidFill>
                <a:srgbClr val="000000"/>
              </a:solidFill>
              <a:latin typeface="Arial"/>
              <a:ea typeface="Arial"/>
              <a:cs typeface="Arial"/>
              <a:sym typeface="Arial"/>
            </a:endParaRPr>
          </a:p>
        </p:txBody>
      </p:sp>
      <p:sp>
        <p:nvSpPr>
          <p:cNvPr id="130" name="Google Shape;130;p26"/>
          <p:cNvSpPr txBox="1"/>
          <p:nvPr/>
        </p:nvSpPr>
        <p:spPr>
          <a:xfrm>
            <a:off x="0" y="1714500"/>
            <a:ext cx="5332800" cy="48948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SzPts val="1900"/>
              <a:buFont typeface="Times New Roman"/>
              <a:buChar char="●"/>
            </a:pPr>
            <a:r>
              <a:rPr lang="en-US" sz="1900">
                <a:latin typeface="Times New Roman"/>
                <a:ea typeface="Times New Roman"/>
                <a:cs typeface="Times New Roman"/>
                <a:sym typeface="Times New Roman"/>
              </a:rPr>
              <a:t>Accurate classification of common waste categories using AI models</a:t>
            </a:r>
            <a:endParaRPr sz="1900">
              <a:latin typeface="Times New Roman"/>
              <a:ea typeface="Times New Roman"/>
              <a:cs typeface="Times New Roman"/>
              <a:sym typeface="Times New Roman"/>
            </a:endParaRPr>
          </a:p>
          <a:p>
            <a:pPr marL="457200" lvl="0" indent="0" algn="l" rtl="0">
              <a:spcBef>
                <a:spcPts val="0"/>
              </a:spcBef>
              <a:spcAft>
                <a:spcPts val="0"/>
              </a:spcAft>
              <a:buNone/>
            </a:pPr>
            <a:endParaRPr sz="1900">
              <a:latin typeface="Times New Roman"/>
              <a:ea typeface="Times New Roman"/>
              <a:cs typeface="Times New Roman"/>
              <a:sym typeface="Times New Roman"/>
            </a:endParaRPr>
          </a:p>
          <a:p>
            <a:pPr marL="457200" lvl="0" indent="-349250" algn="l" rtl="0">
              <a:spcBef>
                <a:spcPts val="0"/>
              </a:spcBef>
              <a:spcAft>
                <a:spcPts val="0"/>
              </a:spcAft>
              <a:buSzPts val="1900"/>
              <a:buFont typeface="Times New Roman"/>
              <a:buChar char="●"/>
            </a:pPr>
            <a:r>
              <a:rPr lang="en-US" sz="1900">
                <a:latin typeface="Times New Roman"/>
                <a:ea typeface="Times New Roman"/>
                <a:cs typeface="Times New Roman"/>
                <a:sym typeface="Times New Roman"/>
              </a:rPr>
              <a:t>Improved recycling efficiency with reduced material loss</a:t>
            </a:r>
            <a:endParaRPr sz="1900">
              <a:latin typeface="Times New Roman"/>
              <a:ea typeface="Times New Roman"/>
              <a:cs typeface="Times New Roman"/>
              <a:sym typeface="Times New Roman"/>
            </a:endParaRPr>
          </a:p>
          <a:p>
            <a:pPr marL="457200" lvl="0" indent="0" algn="l" rtl="0">
              <a:spcBef>
                <a:spcPts val="0"/>
              </a:spcBef>
              <a:spcAft>
                <a:spcPts val="0"/>
              </a:spcAft>
              <a:buNone/>
            </a:pPr>
            <a:endParaRPr sz="1900">
              <a:latin typeface="Times New Roman"/>
              <a:ea typeface="Times New Roman"/>
              <a:cs typeface="Times New Roman"/>
              <a:sym typeface="Times New Roman"/>
            </a:endParaRPr>
          </a:p>
          <a:p>
            <a:pPr marL="457200" lvl="0" indent="-349250" algn="l" rtl="0">
              <a:spcBef>
                <a:spcPts val="0"/>
              </a:spcBef>
              <a:spcAft>
                <a:spcPts val="0"/>
              </a:spcAft>
              <a:buSzPts val="1900"/>
              <a:buFont typeface="Times New Roman"/>
              <a:buChar char="●"/>
            </a:pPr>
            <a:r>
              <a:rPr lang="en-US" sz="1900">
                <a:solidFill>
                  <a:schemeClr val="dk1"/>
                </a:solidFill>
                <a:latin typeface="Times New Roman"/>
                <a:ea typeface="Times New Roman"/>
                <a:cs typeface="Times New Roman"/>
                <a:sym typeface="Times New Roman"/>
              </a:rPr>
              <a:t>Enhanced worker safety through early detection of hazardous waste</a:t>
            </a:r>
            <a:endParaRPr sz="190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SzPts val="1900"/>
              <a:buFont typeface="Times New Roman"/>
              <a:buChar char="●"/>
            </a:pPr>
            <a:r>
              <a:rPr lang="en-US" sz="1900">
                <a:solidFill>
                  <a:schemeClr val="dk1"/>
                </a:solidFill>
                <a:latin typeface="Times New Roman"/>
                <a:ea typeface="Times New Roman"/>
                <a:cs typeface="Times New Roman"/>
                <a:sym typeface="Times New Roman"/>
              </a:rPr>
              <a:t>Faster on-site decision making with real-time predictions</a:t>
            </a:r>
            <a:endParaRPr sz="190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SzPts val="1900"/>
              <a:buFont typeface="Times New Roman"/>
              <a:buChar char="●"/>
            </a:pPr>
            <a:r>
              <a:rPr lang="en-US" sz="1900">
                <a:solidFill>
                  <a:schemeClr val="dk1"/>
                </a:solidFill>
                <a:latin typeface="Times New Roman"/>
                <a:ea typeface="Times New Roman"/>
                <a:cs typeface="Times New Roman"/>
                <a:sym typeface="Times New Roman"/>
              </a:rPr>
              <a:t>Reduced dependency on expert supervision due to automated waste segregation</a:t>
            </a:r>
            <a:br>
              <a:rPr lang="en-US" sz="1900">
                <a:solidFill>
                  <a:schemeClr val="dk1"/>
                </a:solidFill>
                <a:latin typeface="Times New Roman"/>
                <a:ea typeface="Times New Roman"/>
                <a:cs typeface="Times New Roman"/>
                <a:sym typeface="Times New Roman"/>
              </a:rPr>
            </a:br>
            <a:endParaRPr sz="190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2100">
              <a:latin typeface="Times New Roman"/>
              <a:ea typeface="Times New Roman"/>
              <a:cs typeface="Times New Roman"/>
              <a:sym typeface="Times New Roman"/>
            </a:endParaRPr>
          </a:p>
        </p:txBody>
      </p:sp>
      <p:pic>
        <p:nvPicPr>
          <p:cNvPr id="131" name="Google Shape;131;p26"/>
          <p:cNvPicPr preferRelativeResize="0"/>
          <p:nvPr/>
        </p:nvPicPr>
        <p:blipFill>
          <a:blip r:embed="rId3">
            <a:alphaModFix/>
          </a:blip>
          <a:stretch>
            <a:fillRect/>
          </a:stretch>
        </p:blipFill>
        <p:spPr>
          <a:xfrm>
            <a:off x="5332800" y="777600"/>
            <a:ext cx="4066050" cy="4320125"/>
          </a:xfrm>
          <a:prstGeom prst="rect">
            <a:avLst/>
          </a:prstGeom>
          <a:noFill/>
          <a:ln>
            <a:noFill/>
          </a:ln>
        </p:spPr>
      </p:pic>
      <p:pic>
        <p:nvPicPr>
          <p:cNvPr id="132" name="Google Shape;132;p26"/>
          <p:cNvPicPr preferRelativeResize="0"/>
          <p:nvPr/>
        </p:nvPicPr>
        <p:blipFill>
          <a:blip r:embed="rId4">
            <a:alphaModFix/>
          </a:blip>
          <a:stretch>
            <a:fillRect/>
          </a:stretch>
        </p:blipFill>
        <p:spPr>
          <a:xfrm>
            <a:off x="5332798" y="5256434"/>
            <a:ext cx="5096650" cy="1601566"/>
          </a:xfrm>
          <a:prstGeom prst="rect">
            <a:avLst/>
          </a:prstGeom>
          <a:noFill/>
          <a:ln>
            <a:noFill/>
          </a:ln>
        </p:spPr>
      </p:pic>
      <p:pic>
        <p:nvPicPr>
          <p:cNvPr id="133" name="Google Shape;133;p26"/>
          <p:cNvPicPr preferRelativeResize="0"/>
          <p:nvPr/>
        </p:nvPicPr>
        <p:blipFill>
          <a:blip r:embed="rId5">
            <a:alphaModFix/>
          </a:blip>
          <a:stretch>
            <a:fillRect/>
          </a:stretch>
        </p:blipFill>
        <p:spPr>
          <a:xfrm>
            <a:off x="7858675" y="1714500"/>
            <a:ext cx="4432999" cy="2117149"/>
          </a:xfrm>
          <a:prstGeom prst="rect">
            <a:avLst/>
          </a:prstGeom>
          <a:noFill/>
          <a:ln>
            <a:noFill/>
          </a:ln>
        </p:spPr>
      </p:pic>
      <p:sp>
        <p:nvSpPr>
          <p:cNvPr id="134" name="Google Shape;134;p26"/>
          <p:cNvSpPr/>
          <p:nvPr/>
        </p:nvSpPr>
        <p:spPr>
          <a:xfrm rot="-2970352">
            <a:off x="7630884" y="4465923"/>
            <a:ext cx="2905431" cy="387059"/>
          </a:xfrm>
          <a:prstGeom prst="rightArrow">
            <a:avLst>
              <a:gd name="adj1" fmla="val 50000"/>
              <a:gd name="adj2" fmla="val 55534"/>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p:nvPr/>
        </p:nvSpPr>
        <p:spPr>
          <a:xfrm>
            <a:off x="548821" y="1165162"/>
            <a:ext cx="59040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213163"/>
                </a:solidFill>
                <a:latin typeface="Arial"/>
                <a:ea typeface="Arial"/>
                <a:cs typeface="Arial"/>
                <a:sym typeface="Arial"/>
              </a:rPr>
              <a:t>Conclusion</a:t>
            </a:r>
            <a:endParaRPr sz="3200" b="0" i="0" u="none" strike="noStrike" cap="none">
              <a:solidFill>
                <a:srgbClr val="000000"/>
              </a:solidFill>
              <a:latin typeface="Arial"/>
              <a:ea typeface="Arial"/>
              <a:cs typeface="Arial"/>
              <a:sym typeface="Arial"/>
            </a:endParaRPr>
          </a:p>
        </p:txBody>
      </p:sp>
      <p:sp>
        <p:nvSpPr>
          <p:cNvPr id="140" name="Google Shape;140;p27"/>
          <p:cNvSpPr txBox="1"/>
          <p:nvPr/>
        </p:nvSpPr>
        <p:spPr>
          <a:xfrm>
            <a:off x="711750" y="2185675"/>
            <a:ext cx="10768500" cy="39096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SzPts val="2200"/>
              <a:buFont typeface="Times New Roman"/>
              <a:buChar char="●"/>
            </a:pPr>
            <a:r>
              <a:rPr lang="en-US" sz="2200">
                <a:latin typeface="Times New Roman"/>
                <a:ea typeface="Times New Roman"/>
                <a:cs typeface="Times New Roman"/>
                <a:sym typeface="Times New Roman"/>
              </a:rPr>
              <a:t>The proposed AI-based waste management system effectively classifies waste using deep learning techniques.</a:t>
            </a:r>
            <a:endParaRPr sz="2200">
              <a:latin typeface="Times New Roman"/>
              <a:ea typeface="Times New Roman"/>
              <a:cs typeface="Times New Roman"/>
              <a:sym typeface="Times New Roman"/>
            </a:endParaRPr>
          </a:p>
          <a:p>
            <a:pPr marL="457200" lvl="0" indent="0" algn="l" rtl="0">
              <a:spcBef>
                <a:spcPts val="0"/>
              </a:spcBef>
              <a:spcAft>
                <a:spcPts val="0"/>
              </a:spcAft>
              <a:buNone/>
            </a:pPr>
            <a:endParaRPr sz="2200">
              <a:latin typeface="Times New Roman"/>
              <a:ea typeface="Times New Roman"/>
              <a:cs typeface="Times New Roman"/>
              <a:sym typeface="Times New Roman"/>
            </a:endParaRPr>
          </a:p>
          <a:p>
            <a:pPr marL="457200" lvl="0" indent="-368300" algn="l" rtl="0">
              <a:spcBef>
                <a:spcPts val="0"/>
              </a:spcBef>
              <a:spcAft>
                <a:spcPts val="0"/>
              </a:spcAft>
              <a:buSzPts val="2200"/>
              <a:buFont typeface="Times New Roman"/>
              <a:buChar char="●"/>
            </a:pPr>
            <a:r>
              <a:rPr lang="en-US" sz="2200">
                <a:latin typeface="Times New Roman"/>
                <a:ea typeface="Times New Roman"/>
                <a:cs typeface="Times New Roman"/>
                <a:sym typeface="Times New Roman"/>
              </a:rPr>
              <a:t>The system improves recycling efficiency by minimizing manual errors and material loss.</a:t>
            </a:r>
            <a:endParaRPr sz="2200">
              <a:latin typeface="Times New Roman"/>
              <a:ea typeface="Times New Roman"/>
              <a:cs typeface="Times New Roman"/>
              <a:sym typeface="Times New Roman"/>
            </a:endParaRPr>
          </a:p>
          <a:p>
            <a:pPr marL="457200" lvl="0" indent="0" algn="l" rtl="0">
              <a:spcBef>
                <a:spcPts val="0"/>
              </a:spcBef>
              <a:spcAft>
                <a:spcPts val="0"/>
              </a:spcAft>
              <a:buNone/>
            </a:pPr>
            <a:endParaRPr sz="2200">
              <a:latin typeface="Times New Roman"/>
              <a:ea typeface="Times New Roman"/>
              <a:cs typeface="Times New Roman"/>
              <a:sym typeface="Times New Roman"/>
            </a:endParaRPr>
          </a:p>
          <a:p>
            <a:pPr marL="457200" lvl="0" indent="-368300" algn="l" rtl="0">
              <a:spcBef>
                <a:spcPts val="0"/>
              </a:spcBef>
              <a:spcAft>
                <a:spcPts val="0"/>
              </a:spcAft>
              <a:buSzPts val="2200"/>
              <a:buFont typeface="Times New Roman"/>
              <a:buChar char="●"/>
            </a:pPr>
            <a:r>
              <a:rPr lang="en-US" sz="2200">
                <a:latin typeface="Times New Roman"/>
                <a:ea typeface="Times New Roman"/>
                <a:cs typeface="Times New Roman"/>
                <a:sym typeface="Times New Roman"/>
              </a:rPr>
              <a:t>Early detection of hazardous waste enhances safety for sanitation workers.</a:t>
            </a:r>
            <a:endParaRPr sz="2200">
              <a:latin typeface="Times New Roman"/>
              <a:ea typeface="Times New Roman"/>
              <a:cs typeface="Times New Roman"/>
              <a:sym typeface="Times New Roman"/>
            </a:endParaRPr>
          </a:p>
          <a:p>
            <a:pPr marL="0" lvl="0" indent="0" algn="l" rtl="0">
              <a:spcBef>
                <a:spcPts val="0"/>
              </a:spcBef>
              <a:spcAft>
                <a:spcPts val="0"/>
              </a:spcAft>
              <a:buNone/>
            </a:pPr>
            <a:endParaRPr sz="2200">
              <a:latin typeface="Times New Roman"/>
              <a:ea typeface="Times New Roman"/>
              <a:cs typeface="Times New Roman"/>
              <a:sym typeface="Times New Roman"/>
            </a:endParaRPr>
          </a:p>
          <a:p>
            <a:pPr marL="457200" lvl="0" indent="-368300" algn="l" rtl="0">
              <a:spcBef>
                <a:spcPts val="0"/>
              </a:spcBef>
              <a:spcAft>
                <a:spcPts val="0"/>
              </a:spcAft>
              <a:buSzPts val="2200"/>
              <a:buFont typeface="Times New Roman"/>
              <a:buChar char="●"/>
            </a:pPr>
            <a:r>
              <a:rPr lang="en-US" sz="2200">
                <a:latin typeface="Times New Roman"/>
                <a:ea typeface="Times New Roman"/>
                <a:cs typeface="Times New Roman"/>
                <a:sym typeface="Times New Roman"/>
              </a:rPr>
              <a:t>Automation reduces dependency on expert supervision and speeds up decision-making.</a:t>
            </a:r>
            <a:endParaRPr sz="2200">
              <a:latin typeface="Times New Roman"/>
              <a:ea typeface="Times New Roman"/>
              <a:cs typeface="Times New Roman"/>
              <a:sym typeface="Times New Roman"/>
            </a:endParaRPr>
          </a:p>
          <a:p>
            <a:pPr marL="457200" lvl="0" indent="0" algn="l" rtl="0">
              <a:spcBef>
                <a:spcPts val="0"/>
              </a:spcBef>
              <a:spcAft>
                <a:spcPts val="0"/>
              </a:spcAft>
              <a:buNone/>
            </a:pPr>
            <a:endParaRPr sz="2200">
              <a:latin typeface="Times New Roman"/>
              <a:ea typeface="Times New Roman"/>
              <a:cs typeface="Times New Roman"/>
              <a:sym typeface="Times New Roman"/>
            </a:endParaRPr>
          </a:p>
          <a:p>
            <a:pPr marL="457200" lvl="0" indent="-368300" algn="l" rtl="0">
              <a:spcBef>
                <a:spcPts val="0"/>
              </a:spcBef>
              <a:spcAft>
                <a:spcPts val="0"/>
              </a:spcAft>
              <a:buSzPts val="2200"/>
              <a:buFont typeface="Times New Roman"/>
              <a:buChar char="●"/>
            </a:pPr>
            <a:r>
              <a:rPr lang="en-US" sz="2200">
                <a:latin typeface="Times New Roman"/>
                <a:ea typeface="Times New Roman"/>
                <a:cs typeface="Times New Roman"/>
                <a:sym typeface="Times New Roman"/>
              </a:rPr>
              <a:t>Overall, the model provides a scalable and intelligent solution for modern waste management.</a:t>
            </a:r>
            <a:endParaRPr sz="2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8"/>
          <p:cNvSpPr txBox="1"/>
          <p:nvPr/>
        </p:nvSpPr>
        <p:spPr>
          <a:xfrm>
            <a:off x="304796" y="1257312"/>
            <a:ext cx="59040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213163"/>
                </a:solidFill>
              </a:rPr>
              <a:t>References</a:t>
            </a:r>
            <a:endParaRPr sz="3200" b="1">
              <a:solidFill>
                <a:srgbClr val="213163"/>
              </a:solidFill>
            </a:endParaRPr>
          </a:p>
        </p:txBody>
      </p:sp>
      <p:sp>
        <p:nvSpPr>
          <p:cNvPr id="146" name="Google Shape;146;p28"/>
          <p:cNvSpPr txBox="1"/>
          <p:nvPr/>
        </p:nvSpPr>
        <p:spPr>
          <a:xfrm>
            <a:off x="668175" y="2071925"/>
            <a:ext cx="11051100" cy="12006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Clr>
                <a:schemeClr val="dk1"/>
              </a:buClr>
              <a:buSzPts val="2200"/>
              <a:buChar char="●"/>
            </a:pPr>
            <a:r>
              <a:rPr lang="en-US" sz="2200" b="1">
                <a:solidFill>
                  <a:schemeClr val="dk1"/>
                </a:solidFill>
                <a:latin typeface="Times New Roman"/>
                <a:ea typeface="Times New Roman"/>
                <a:cs typeface="Times New Roman"/>
                <a:sym typeface="Times New Roman"/>
              </a:rPr>
              <a:t>G. Ginting and R. D. Apnena</a:t>
            </a:r>
            <a:r>
              <a:rPr lang="en-US" sz="2200">
                <a:solidFill>
                  <a:schemeClr val="dk1"/>
                </a:solidFill>
                <a:latin typeface="Times New Roman"/>
                <a:ea typeface="Times New Roman"/>
                <a:cs typeface="Times New Roman"/>
                <a:sym typeface="Times New Roman"/>
              </a:rPr>
              <a:t>, “Smart Waste Management and Recycling Based on IoT using Machine Learning Algorithm,” </a:t>
            </a:r>
            <a:r>
              <a:rPr lang="en-US" sz="2200" i="1">
                <a:solidFill>
                  <a:schemeClr val="dk1"/>
                </a:solidFill>
                <a:latin typeface="Times New Roman"/>
                <a:ea typeface="Times New Roman"/>
                <a:cs typeface="Times New Roman"/>
                <a:sym typeface="Times New Roman"/>
              </a:rPr>
              <a:t>J. Appl. Intell. Syst.</a:t>
            </a:r>
            <a:r>
              <a:rPr lang="en-US" sz="2200">
                <a:solidFill>
                  <a:schemeClr val="dk1"/>
                </a:solidFill>
                <a:latin typeface="Times New Roman"/>
                <a:ea typeface="Times New Roman"/>
                <a:cs typeface="Times New Roman"/>
                <a:sym typeface="Times New Roman"/>
              </a:rPr>
              <a:t>, vol. 9, no. 2, 2025, doi: 10.62411/jais.v9i2.10766.</a:t>
            </a:r>
            <a:endParaRPr sz="2200">
              <a:latin typeface="Times New Roman"/>
              <a:ea typeface="Times New Roman"/>
              <a:cs typeface="Times New Roman"/>
              <a:sym typeface="Times New Roman"/>
            </a:endParaRPr>
          </a:p>
        </p:txBody>
      </p:sp>
      <p:sp>
        <p:nvSpPr>
          <p:cNvPr id="147" name="Google Shape;147;p28"/>
          <p:cNvSpPr txBox="1"/>
          <p:nvPr/>
        </p:nvSpPr>
        <p:spPr>
          <a:xfrm>
            <a:off x="716325" y="3429000"/>
            <a:ext cx="11260200" cy="8619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Clr>
                <a:schemeClr val="dk1"/>
              </a:buClr>
              <a:buSzPts val="2200"/>
              <a:buChar char="●"/>
            </a:pPr>
            <a:r>
              <a:rPr lang="en-US" sz="2200" b="1">
                <a:solidFill>
                  <a:schemeClr val="dk1"/>
                </a:solidFill>
                <a:latin typeface="Times New Roman"/>
                <a:ea typeface="Times New Roman"/>
                <a:cs typeface="Times New Roman"/>
                <a:sym typeface="Times New Roman"/>
              </a:rPr>
              <a:t>S. Kargaonkar, S. Raghaw, P. Meena, and A. Tripathi</a:t>
            </a:r>
            <a:r>
              <a:rPr lang="en-US" sz="2200">
                <a:solidFill>
                  <a:schemeClr val="dk1"/>
                </a:solidFill>
                <a:latin typeface="Times New Roman"/>
                <a:ea typeface="Times New Roman"/>
                <a:cs typeface="Times New Roman"/>
                <a:sym typeface="Times New Roman"/>
              </a:rPr>
              <a:t>, “Intelligent Waste Management Classification,” </a:t>
            </a:r>
            <a:r>
              <a:rPr lang="en-US" sz="2200" i="1">
                <a:solidFill>
                  <a:schemeClr val="dk1"/>
                </a:solidFill>
                <a:latin typeface="Times New Roman"/>
                <a:ea typeface="Times New Roman"/>
                <a:cs typeface="Times New Roman"/>
                <a:sym typeface="Times New Roman"/>
              </a:rPr>
              <a:t>IJRASAT J. Appl. Sci. Eng. Technol.</a:t>
            </a:r>
            <a:r>
              <a:rPr lang="en-US" sz="2200">
                <a:solidFill>
                  <a:schemeClr val="dk1"/>
                </a:solidFill>
                <a:latin typeface="Times New Roman"/>
                <a:ea typeface="Times New Roman"/>
                <a:cs typeface="Times New Roman"/>
                <a:sym typeface="Times New Roman"/>
              </a:rPr>
              <a:t>, 2024. </a:t>
            </a:r>
            <a:endParaRPr sz="2200">
              <a:latin typeface="Times New Roman"/>
              <a:ea typeface="Times New Roman"/>
              <a:cs typeface="Times New Roman"/>
              <a:sym typeface="Times New Roman"/>
            </a:endParaRPr>
          </a:p>
        </p:txBody>
      </p:sp>
      <p:sp>
        <p:nvSpPr>
          <p:cNvPr id="148" name="Google Shape;148;p28"/>
          <p:cNvSpPr txBox="1"/>
          <p:nvPr/>
        </p:nvSpPr>
        <p:spPr>
          <a:xfrm>
            <a:off x="716325" y="4478275"/>
            <a:ext cx="11051100" cy="8619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Clr>
                <a:schemeClr val="dk1"/>
              </a:buClr>
              <a:buSzPts val="2200"/>
              <a:buChar char="●"/>
            </a:pPr>
            <a:r>
              <a:rPr lang="en-US" sz="2200" b="1">
                <a:solidFill>
                  <a:schemeClr val="dk1"/>
                </a:solidFill>
                <a:latin typeface="Times New Roman"/>
                <a:ea typeface="Times New Roman"/>
                <a:cs typeface="Times New Roman"/>
                <a:sym typeface="Times New Roman"/>
              </a:rPr>
              <a:t>S. S. G., A. Anub, B. Sreelekshmi et al.</a:t>
            </a:r>
            <a:r>
              <a:rPr lang="en-US" sz="2200">
                <a:solidFill>
                  <a:schemeClr val="dk1"/>
                </a:solidFill>
                <a:latin typeface="Times New Roman"/>
                <a:ea typeface="Times New Roman"/>
                <a:cs typeface="Times New Roman"/>
                <a:sym typeface="Times New Roman"/>
              </a:rPr>
              <a:t>, “Automated Waste Classification and Recycling Optimization Using AI,” </a:t>
            </a:r>
            <a:r>
              <a:rPr lang="en-US" sz="2200" i="1">
                <a:solidFill>
                  <a:schemeClr val="dk1"/>
                </a:solidFill>
                <a:latin typeface="Times New Roman"/>
                <a:ea typeface="Times New Roman"/>
                <a:cs typeface="Times New Roman"/>
                <a:sym typeface="Times New Roman"/>
              </a:rPr>
              <a:t>Int. J. Environ. Sci.</a:t>
            </a:r>
            <a:r>
              <a:rPr lang="en-US" sz="2200">
                <a:solidFill>
                  <a:schemeClr val="dk1"/>
                </a:solidFill>
                <a:latin typeface="Times New Roman"/>
                <a:ea typeface="Times New Roman"/>
                <a:cs typeface="Times New Roman"/>
                <a:sym typeface="Times New Roman"/>
              </a:rPr>
              <a:t>, vol. 11, no. 24s, pp. 824–833, 2025.</a:t>
            </a:r>
            <a:endParaRPr sz="2200">
              <a:latin typeface="Times New Roman"/>
              <a:ea typeface="Times New Roman"/>
              <a:cs typeface="Times New Roman"/>
              <a:sym typeface="Times New Roman"/>
            </a:endParaRPr>
          </a:p>
        </p:txBody>
      </p:sp>
      <p:sp>
        <p:nvSpPr>
          <p:cNvPr id="149" name="Google Shape;149;p28"/>
          <p:cNvSpPr txBox="1"/>
          <p:nvPr/>
        </p:nvSpPr>
        <p:spPr>
          <a:xfrm>
            <a:off x="668175" y="5623875"/>
            <a:ext cx="10840500" cy="10740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Char char="●"/>
            </a:pPr>
            <a:r>
              <a:rPr lang="en-US" sz="2200" b="1">
                <a:solidFill>
                  <a:schemeClr val="dk1"/>
                </a:solidFill>
                <a:latin typeface="Times New Roman"/>
                <a:ea typeface="Times New Roman"/>
                <a:cs typeface="Times New Roman"/>
                <a:sym typeface="Times New Roman"/>
              </a:rPr>
              <a:t>F. Fotovvatikhah, I. Ahmedy, R. Md Noor, and M. U. Munir</a:t>
            </a:r>
            <a:r>
              <a:rPr lang="en-US" sz="2200">
                <a:solidFill>
                  <a:schemeClr val="dk1"/>
                </a:solidFill>
                <a:latin typeface="Times New Roman"/>
                <a:ea typeface="Times New Roman"/>
                <a:cs typeface="Times New Roman"/>
                <a:sym typeface="Times New Roman"/>
              </a:rPr>
              <a:t>, “A Systematic Review of AI-Based Techniques for Automated Waste Classification,” </a:t>
            </a:r>
            <a:r>
              <a:rPr lang="en-US" sz="2200" i="1">
                <a:solidFill>
                  <a:schemeClr val="dk1"/>
                </a:solidFill>
                <a:latin typeface="Times New Roman"/>
                <a:ea typeface="Times New Roman"/>
                <a:cs typeface="Times New Roman"/>
                <a:sym typeface="Times New Roman"/>
              </a:rPr>
              <a:t>Sensors</a:t>
            </a:r>
            <a:r>
              <a:rPr lang="en-US" sz="2200">
                <a:solidFill>
                  <a:schemeClr val="dk1"/>
                </a:solidFill>
                <a:latin typeface="Times New Roman"/>
                <a:ea typeface="Times New Roman"/>
                <a:cs typeface="Times New Roman"/>
                <a:sym typeface="Times New Roman"/>
              </a:rPr>
              <a:t>, vol. 25, no. 10, 2025. </a:t>
            </a:r>
            <a:endParaRPr sz="22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p:nvPr/>
        </p:nvSpPr>
        <p:spPr>
          <a:xfrm>
            <a:off x="304796" y="964812"/>
            <a:ext cx="59040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213163"/>
                </a:solidFill>
                <a:latin typeface="Arial"/>
                <a:ea typeface="Arial"/>
                <a:cs typeface="Arial"/>
                <a:sym typeface="Arial"/>
              </a:rPr>
              <a:t>Future Perspective</a:t>
            </a:r>
            <a:endParaRPr sz="3200" b="0" i="0" u="none" strike="noStrike" cap="none">
              <a:solidFill>
                <a:srgbClr val="000000"/>
              </a:solidFill>
              <a:latin typeface="Arial"/>
              <a:ea typeface="Arial"/>
              <a:cs typeface="Arial"/>
              <a:sym typeface="Arial"/>
            </a:endParaRPr>
          </a:p>
        </p:txBody>
      </p:sp>
      <p:sp>
        <p:nvSpPr>
          <p:cNvPr id="155" name="Google Shape;155;p29"/>
          <p:cNvSpPr txBox="1"/>
          <p:nvPr/>
        </p:nvSpPr>
        <p:spPr>
          <a:xfrm>
            <a:off x="304800" y="2170650"/>
            <a:ext cx="6556200" cy="4463700"/>
          </a:xfrm>
          <a:prstGeom prst="rect">
            <a:avLst/>
          </a:prstGeom>
          <a:noFill/>
          <a:ln>
            <a:noFill/>
          </a:ln>
        </p:spPr>
        <p:txBody>
          <a:bodyPr spcFirstLastPara="1" wrap="square" lIns="91425" tIns="91425" rIns="91425" bIns="91425" anchor="t" anchorCtr="0">
            <a:spAutoFit/>
          </a:bodyPr>
          <a:lstStyle/>
          <a:p>
            <a:pPr marL="457200" lvl="0" indent="-368300" algn="l" rtl="0">
              <a:lnSpc>
                <a:spcPct val="115000"/>
              </a:lnSpc>
              <a:spcBef>
                <a:spcPts val="120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Integration of IoT sensors and smart bins for real-time waste monitoring</a:t>
            </a:r>
            <a:endParaRPr sz="2200">
              <a:solidFill>
                <a:schemeClr val="dk1"/>
              </a:solidFill>
              <a:latin typeface="Times New Roman"/>
              <a:ea typeface="Times New Roman"/>
              <a:cs typeface="Times New Roman"/>
              <a:sym typeface="Times New Roman"/>
            </a:endParaRPr>
          </a:p>
          <a:p>
            <a:pPr marL="457200" lvl="0" indent="-368300" algn="l" rtl="0">
              <a:lnSpc>
                <a:spcPct val="115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Deployment of the system in municipal and smart city environments</a:t>
            </a:r>
            <a:endParaRPr sz="2200">
              <a:solidFill>
                <a:schemeClr val="dk1"/>
              </a:solidFill>
              <a:latin typeface="Times New Roman"/>
              <a:ea typeface="Times New Roman"/>
              <a:cs typeface="Times New Roman"/>
              <a:sym typeface="Times New Roman"/>
            </a:endParaRPr>
          </a:p>
          <a:p>
            <a:pPr marL="457200" lvl="0" indent="-368300" algn="l" rtl="0">
              <a:lnSpc>
                <a:spcPct val="115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Expansion to more waste categories, including hazardous and e-waste</a:t>
            </a:r>
            <a:endParaRPr sz="2200">
              <a:solidFill>
                <a:schemeClr val="dk1"/>
              </a:solidFill>
              <a:latin typeface="Times New Roman"/>
              <a:ea typeface="Times New Roman"/>
              <a:cs typeface="Times New Roman"/>
              <a:sym typeface="Times New Roman"/>
            </a:endParaRPr>
          </a:p>
          <a:p>
            <a:pPr marL="457200" lvl="0" indent="-368300" algn="l" rtl="0">
              <a:lnSpc>
                <a:spcPct val="115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Use of advanced deep learning models to improve accuracy and speed</a:t>
            </a:r>
            <a:endParaRPr sz="2200">
              <a:solidFill>
                <a:schemeClr val="dk1"/>
              </a:solidFill>
              <a:latin typeface="Times New Roman"/>
              <a:ea typeface="Times New Roman"/>
              <a:cs typeface="Times New Roman"/>
              <a:sym typeface="Times New Roman"/>
            </a:endParaRPr>
          </a:p>
          <a:p>
            <a:pPr marL="457200" lvl="0" indent="-368300" algn="l" rtl="0">
              <a:lnSpc>
                <a:spcPct val="115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Development of a mobile or web application for real-time tracking and alerts</a:t>
            </a:r>
            <a:endParaRPr sz="2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1500"/>
          </a:p>
        </p:txBody>
      </p:sp>
      <p:pic>
        <p:nvPicPr>
          <p:cNvPr id="156" name="Google Shape;156;p29"/>
          <p:cNvPicPr preferRelativeResize="0"/>
          <p:nvPr/>
        </p:nvPicPr>
        <p:blipFill>
          <a:blip r:embed="rId3">
            <a:alphaModFix/>
          </a:blip>
          <a:stretch>
            <a:fillRect/>
          </a:stretch>
        </p:blipFill>
        <p:spPr>
          <a:xfrm>
            <a:off x="6545275" y="828813"/>
            <a:ext cx="5720776" cy="5200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0"/>
          <p:cNvSpPr txBox="1"/>
          <p:nvPr/>
        </p:nvSpPr>
        <p:spPr>
          <a:xfrm>
            <a:off x="4315206" y="2934286"/>
            <a:ext cx="3561588" cy="98704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5000" b="1" i="0" u="none" strike="noStrike" cap="none">
                <a:solidFill>
                  <a:srgbClr val="213163"/>
                </a:solidFill>
                <a:latin typeface="Arial"/>
                <a:ea typeface="Arial"/>
                <a:cs typeface="Arial"/>
                <a:sym typeface="Arial"/>
              </a:rPr>
              <a:t>Thank You</a:t>
            </a:r>
            <a:endParaRPr sz="50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1102</Words>
  <Application>Microsoft Office PowerPoint</Application>
  <PresentationFormat>Widescreen</PresentationFormat>
  <Paragraphs>103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 Parkhe</cp:lastModifiedBy>
  <cp:revision>1</cp:revision>
  <dcterms:modified xsi:type="dcterms:W3CDTF">2026-01-13T04:18:17Z</dcterms:modified>
</cp:coreProperties>
</file>